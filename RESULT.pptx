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1"/>
  </p:notesMasterIdLst>
  <p:sldIdLst>
    <p:sldId id="322" r:id="rId2"/>
    <p:sldId id="267" r:id="rId3"/>
    <p:sldId id="387" r:id="rId4"/>
    <p:sldId id="337" r:id="rId5"/>
    <p:sldId id="334" r:id="rId6"/>
    <p:sldId id="374" r:id="rId7"/>
    <p:sldId id="375" r:id="rId8"/>
    <p:sldId id="389" r:id="rId9"/>
    <p:sldId id="377" r:id="rId10"/>
    <p:sldId id="378" r:id="rId11"/>
    <p:sldId id="396" r:id="rId12"/>
    <p:sldId id="398" r:id="rId13"/>
    <p:sldId id="338" r:id="rId14"/>
    <p:sldId id="390" r:id="rId15"/>
    <p:sldId id="391" r:id="rId16"/>
    <p:sldId id="392" r:id="rId17"/>
    <p:sldId id="388" r:id="rId18"/>
    <p:sldId id="382" r:id="rId19"/>
    <p:sldId id="349" r:id="rId20"/>
    <p:sldId id="399" r:id="rId21"/>
    <p:sldId id="401" r:id="rId22"/>
    <p:sldId id="373" r:id="rId23"/>
    <p:sldId id="394" r:id="rId24"/>
    <p:sldId id="393" r:id="rId25"/>
    <p:sldId id="386" r:id="rId26"/>
    <p:sldId id="376" r:id="rId27"/>
    <p:sldId id="345" r:id="rId28"/>
    <p:sldId id="400" r:id="rId29"/>
    <p:sldId id="332"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neham Joseph" initials="SJ" lastIdx="1" clrIdx="0">
    <p:extLst>
      <p:ext uri="{19B8F6BF-5375-455C-9EA6-DF929625EA0E}">
        <p15:presenceInfo xmlns:p15="http://schemas.microsoft.com/office/powerpoint/2012/main" userId="18e3abf25000ab98" providerId="Windows Live"/>
      </p:ext>
    </p:extLst>
  </p:cmAuthor>
  <p:cmAuthor id="2" name="19P31A04F1" initials="1" lastIdx="1" clrIdx="1">
    <p:extLst>
      <p:ext uri="{19B8F6BF-5375-455C-9EA6-DF929625EA0E}">
        <p15:presenceInfo xmlns:p15="http://schemas.microsoft.com/office/powerpoint/2012/main" userId="S::19P31A04F1@acet.ac.in::ac0afd81-cd9d-4a6d-b298-5777d4c820e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86414" autoAdjust="0"/>
  </p:normalViewPr>
  <p:slideViewPr>
    <p:cSldViewPr>
      <p:cViewPr varScale="1">
        <p:scale>
          <a:sx n="96" d="100"/>
          <a:sy n="96" d="100"/>
        </p:scale>
        <p:origin x="1094" y="62"/>
      </p:cViewPr>
      <p:guideLst>
        <p:guide orient="horz" pos="2160"/>
        <p:guide pos="2880"/>
      </p:guideLst>
    </p:cSldViewPr>
  </p:slideViewPr>
  <p:outlineViewPr>
    <p:cViewPr>
      <p:scale>
        <a:sx n="33" d="100"/>
        <a:sy n="33" d="100"/>
      </p:scale>
      <p:origin x="0" y="627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4FAAE7-35E8-4C35-B5C3-7DFE177E49EC}" type="datetimeFigureOut">
              <a:rPr lang="en-US" smtClean="0"/>
              <a:pPr/>
              <a:t>4/23/2026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7CE589-8873-41B2-829E-E0198902AF0E}" type="slidenum">
              <a:rPr lang="en-US" smtClean="0"/>
              <a:pPr/>
              <a:t>‹#›</a:t>
            </a:fld>
            <a:endParaRPr lang="en-US"/>
          </a:p>
        </p:txBody>
      </p:sp>
    </p:spTree>
    <p:extLst>
      <p:ext uri="{BB962C8B-B14F-4D97-AF65-F5344CB8AC3E}">
        <p14:creationId xmlns:p14="http://schemas.microsoft.com/office/powerpoint/2010/main" val="1721197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D7CE589-8873-41B2-829E-E0198902AF0E}" type="slidenum">
              <a:rPr lang="en-US" smtClean="0"/>
              <a:pPr/>
              <a:t>2</a:t>
            </a:fld>
            <a:endParaRPr lang="en-US"/>
          </a:p>
        </p:txBody>
      </p:sp>
    </p:spTree>
    <p:extLst>
      <p:ext uri="{BB962C8B-B14F-4D97-AF65-F5344CB8AC3E}">
        <p14:creationId xmlns:p14="http://schemas.microsoft.com/office/powerpoint/2010/main" val="1755634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F38822DF-93F9-49BB-9DC1-FCF9BE992DA0}" type="datetime1">
              <a:rPr lang="en-US" smtClean="0"/>
              <a:pPr/>
              <a:t>4/23/2026</a:t>
            </a:fld>
            <a:endParaRPr lang="en-US"/>
          </a:p>
        </p:txBody>
      </p:sp>
      <p:sp>
        <p:nvSpPr>
          <p:cNvPr id="5" name="Footer Placeholder 4"/>
          <p:cNvSpPr>
            <a:spLocks noGrp="1"/>
          </p:cNvSpPr>
          <p:nvPr>
            <p:ph type="ftr" sz="quarter" idx="11"/>
          </p:nvPr>
        </p:nvSpPr>
        <p:spPr/>
        <p:txBody>
          <a:bodyPr/>
          <a:lstStyle/>
          <a:p>
            <a:r>
              <a:rPr lang="en-US"/>
              <a:t>IV ECE-C     BATCH NO.14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87377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025CCD-6AF2-4742-95F9-1761C547C4B7}" type="datetime1">
              <a:rPr lang="en-US" smtClean="0"/>
              <a:pPr/>
              <a:t>4/23/2026</a:t>
            </a:fld>
            <a:endParaRPr lang="en-US"/>
          </a:p>
        </p:txBody>
      </p:sp>
      <p:sp>
        <p:nvSpPr>
          <p:cNvPr id="5" name="Footer Placeholder 4"/>
          <p:cNvSpPr>
            <a:spLocks noGrp="1"/>
          </p:cNvSpPr>
          <p:nvPr>
            <p:ph type="ftr" sz="quarter" idx="11"/>
          </p:nvPr>
        </p:nvSpPr>
        <p:spPr/>
        <p:txBody>
          <a:bodyPr/>
          <a:lstStyle/>
          <a:p>
            <a:r>
              <a:rPr lang="en-US"/>
              <a:t>IV ECE-C     BATCH NO.14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EE073BBA-60E3-4D44-B235-F3F786739266}"/>
              </a:ext>
            </a:extLst>
          </p:cNvPr>
          <p:cNvSpPr txBox="1"/>
          <p:nvPr userDrawn="1"/>
        </p:nvSpPr>
        <p:spPr>
          <a:xfrm>
            <a:off x="4860032" y="29992"/>
            <a:ext cx="4210794" cy="230832"/>
          </a:xfrm>
          <a:prstGeom prst="rect">
            <a:avLst/>
          </a:prstGeom>
          <a:noFill/>
        </p:spPr>
        <p:txBody>
          <a:bodyPr wrap="square">
            <a:spAutoFit/>
          </a:bodyPr>
          <a:lstStyle/>
          <a:p>
            <a:pPr algn="r"/>
            <a:r>
              <a:rPr lang="en-US" sz="900" dirty="0">
                <a:solidFill>
                  <a:srgbClr val="002060"/>
                </a:solidFill>
                <a:latin typeface="Times New Roman" pitchFamily="18" charset="0"/>
                <a:ea typeface="Adobe Gothic Std B" pitchFamily="34" charset="-128"/>
                <a:cs typeface="Times New Roman" pitchFamily="18" charset="0"/>
              </a:rPr>
              <a:t>ADITYA COLLEGE OF ENGINEERING &amp; TECHNOLOGY</a:t>
            </a:r>
            <a:endParaRPr lang="en-IN" sz="900" dirty="0"/>
          </a:p>
        </p:txBody>
      </p:sp>
      <p:pic>
        <p:nvPicPr>
          <p:cNvPr id="10" name="Picture 9">
            <a:extLst>
              <a:ext uri="{FF2B5EF4-FFF2-40B4-BE49-F238E27FC236}">
                <a16:creationId xmlns:a16="http://schemas.microsoft.com/office/drawing/2014/main" id="{D69FFE4F-D40E-4DA3-A750-5CDAAC5F52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835" y="23332"/>
            <a:ext cx="569218" cy="569218"/>
          </a:xfrm>
          <a:prstGeom prst="rect">
            <a:avLst/>
          </a:prstGeom>
        </p:spPr>
      </p:pic>
    </p:spTree>
    <p:extLst>
      <p:ext uri="{BB962C8B-B14F-4D97-AF65-F5344CB8AC3E}">
        <p14:creationId xmlns:p14="http://schemas.microsoft.com/office/powerpoint/2010/main" val="3470830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D2529-6DB5-4F2B-ADC4-F6D696330CEF}" type="datetime1">
              <a:rPr lang="en-US" smtClean="0"/>
              <a:pPr/>
              <a:t>4/23/2026</a:t>
            </a:fld>
            <a:endParaRPr lang="en-US"/>
          </a:p>
        </p:txBody>
      </p:sp>
      <p:sp>
        <p:nvSpPr>
          <p:cNvPr id="5" name="Footer Placeholder 4"/>
          <p:cNvSpPr>
            <a:spLocks noGrp="1"/>
          </p:cNvSpPr>
          <p:nvPr>
            <p:ph type="ftr" sz="quarter" idx="11"/>
          </p:nvPr>
        </p:nvSpPr>
        <p:spPr/>
        <p:txBody>
          <a:bodyPr/>
          <a:lstStyle/>
          <a:p>
            <a:r>
              <a:rPr lang="en-US"/>
              <a:t>IV ECE-C     BATCH NO.14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74666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1CC773-592D-4345-A261-71CFC57C31D9}" type="datetime1">
              <a:rPr lang="en-US" smtClean="0"/>
              <a:pPr/>
              <a:t>4/23/2026</a:t>
            </a:fld>
            <a:endParaRPr lang="en-US"/>
          </a:p>
        </p:txBody>
      </p:sp>
      <p:sp>
        <p:nvSpPr>
          <p:cNvPr id="6" name="Footer Placeholder 5"/>
          <p:cNvSpPr>
            <a:spLocks noGrp="1"/>
          </p:cNvSpPr>
          <p:nvPr>
            <p:ph type="ftr" sz="quarter" idx="11"/>
          </p:nvPr>
        </p:nvSpPr>
        <p:spPr/>
        <p:txBody>
          <a:bodyPr/>
          <a:lstStyle/>
          <a:p>
            <a:r>
              <a:rPr lang="en-US"/>
              <a:t>IV ECE-C     BATCH NO.14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0734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AE1514-7C31-41DB-97EB-0521BDA85B28}" type="datetime1">
              <a:rPr lang="en-US" smtClean="0"/>
              <a:pPr/>
              <a:t>4/23/2026</a:t>
            </a:fld>
            <a:endParaRPr lang="en-US"/>
          </a:p>
        </p:txBody>
      </p:sp>
      <p:sp>
        <p:nvSpPr>
          <p:cNvPr id="8" name="Footer Placeholder 7"/>
          <p:cNvSpPr>
            <a:spLocks noGrp="1"/>
          </p:cNvSpPr>
          <p:nvPr>
            <p:ph type="ftr" sz="quarter" idx="11"/>
          </p:nvPr>
        </p:nvSpPr>
        <p:spPr/>
        <p:txBody>
          <a:bodyPr/>
          <a:lstStyle/>
          <a:p>
            <a:r>
              <a:rPr lang="en-US"/>
              <a:t>IV ECE-C     BATCH NO.14</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0619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E9297B-6FA4-4A2F-9487-D32A63BEAACB}" type="datetime1">
              <a:rPr lang="en-US" smtClean="0"/>
              <a:pPr/>
              <a:t>4/23/2026</a:t>
            </a:fld>
            <a:endParaRPr lang="en-US"/>
          </a:p>
        </p:txBody>
      </p:sp>
      <p:sp>
        <p:nvSpPr>
          <p:cNvPr id="4" name="Footer Placeholder 3"/>
          <p:cNvSpPr>
            <a:spLocks noGrp="1"/>
          </p:cNvSpPr>
          <p:nvPr>
            <p:ph type="ftr" sz="quarter" idx="11"/>
          </p:nvPr>
        </p:nvSpPr>
        <p:spPr/>
        <p:txBody>
          <a:bodyPr/>
          <a:lstStyle/>
          <a:p>
            <a:r>
              <a:rPr lang="en-US"/>
              <a:t>IV ECE-C     BATCH NO.14</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5480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D987F7-4D15-496C-8FF9-E0AA7B146346}" type="datetime1">
              <a:rPr lang="en-US" smtClean="0"/>
              <a:pPr/>
              <a:t>4/23/2026</a:t>
            </a:fld>
            <a:endParaRPr lang="en-US"/>
          </a:p>
        </p:txBody>
      </p:sp>
      <p:sp>
        <p:nvSpPr>
          <p:cNvPr id="3" name="Footer Placeholder 2"/>
          <p:cNvSpPr>
            <a:spLocks noGrp="1"/>
          </p:cNvSpPr>
          <p:nvPr>
            <p:ph type="ftr" sz="quarter" idx="11"/>
          </p:nvPr>
        </p:nvSpPr>
        <p:spPr/>
        <p:txBody>
          <a:bodyPr/>
          <a:lstStyle/>
          <a:p>
            <a:r>
              <a:rPr lang="en-US"/>
              <a:t>IV ECE-C     BATCH NO.14</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17309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81F8EE1-BB18-40EA-8008-94E2C443488D}" type="datetime1">
              <a:rPr lang="en-US" smtClean="0"/>
              <a:pPr/>
              <a:t>4/23/2026</a:t>
            </a:fld>
            <a:endParaRPr lang="en-US"/>
          </a:p>
        </p:txBody>
      </p:sp>
      <p:sp>
        <p:nvSpPr>
          <p:cNvPr id="6" name="Footer Placeholder 5"/>
          <p:cNvSpPr>
            <a:spLocks noGrp="1"/>
          </p:cNvSpPr>
          <p:nvPr>
            <p:ph type="ftr" sz="quarter" idx="11"/>
          </p:nvPr>
        </p:nvSpPr>
        <p:spPr/>
        <p:txBody>
          <a:bodyPr/>
          <a:lstStyle/>
          <a:p>
            <a:r>
              <a:rPr lang="en-US"/>
              <a:t>IV ECE-C     BATCH NO.14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01089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7CCB740-B1D8-4D31-8F49-7BE247C48321}" type="datetime1">
              <a:rPr lang="en-US" smtClean="0"/>
              <a:pPr/>
              <a:t>4/23/2026</a:t>
            </a:fld>
            <a:endParaRPr lang="en-US"/>
          </a:p>
        </p:txBody>
      </p:sp>
      <p:sp>
        <p:nvSpPr>
          <p:cNvPr id="6" name="Footer Placeholder 5"/>
          <p:cNvSpPr>
            <a:spLocks noGrp="1"/>
          </p:cNvSpPr>
          <p:nvPr>
            <p:ph type="ftr" sz="quarter" idx="11"/>
          </p:nvPr>
        </p:nvSpPr>
        <p:spPr/>
        <p:txBody>
          <a:bodyPr/>
          <a:lstStyle/>
          <a:p>
            <a:r>
              <a:rPr lang="en-US"/>
              <a:t>IV ECE-C     BATCH NO.14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1540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E2B643-DDC0-46FD-9440-53B20D2A3DAC}" type="datetime1">
              <a:rPr lang="en-US" smtClean="0"/>
              <a:pPr/>
              <a:t>4/23/2026</a:t>
            </a:fld>
            <a:endParaRPr lang="en-US"/>
          </a:p>
        </p:txBody>
      </p:sp>
      <p:sp>
        <p:nvSpPr>
          <p:cNvPr id="5" name="Footer Placeholder 4"/>
          <p:cNvSpPr>
            <a:spLocks noGrp="1"/>
          </p:cNvSpPr>
          <p:nvPr>
            <p:ph type="ftr" sz="quarter" idx="11"/>
          </p:nvPr>
        </p:nvSpPr>
        <p:spPr/>
        <p:txBody>
          <a:bodyPr/>
          <a:lstStyle/>
          <a:p>
            <a:r>
              <a:rPr lang="en-US"/>
              <a:t>IV ECE-C     BATCH NO.14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11736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6A053-4991-408D-828B-F9CB184C0899}" type="datetime1">
              <a:rPr lang="en-US" smtClean="0"/>
              <a:pPr/>
              <a:t>4/23/2026</a:t>
            </a:fld>
            <a:endParaRPr lang="en-US"/>
          </a:p>
        </p:txBody>
      </p:sp>
      <p:sp>
        <p:nvSpPr>
          <p:cNvPr id="5" name="Footer Placeholder 4"/>
          <p:cNvSpPr>
            <a:spLocks noGrp="1"/>
          </p:cNvSpPr>
          <p:nvPr>
            <p:ph type="ftr" sz="quarter" idx="11"/>
          </p:nvPr>
        </p:nvSpPr>
        <p:spPr/>
        <p:txBody>
          <a:bodyPr/>
          <a:lstStyle/>
          <a:p>
            <a:r>
              <a:rPr lang="en-US"/>
              <a:t>IV ECE-C     BATCH NO.14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90872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8F8E98F-1175-4F9D-ABF6-0F15EE8C1AC3}" type="datetime1">
              <a:rPr lang="en-US" smtClean="0"/>
              <a:pPr/>
              <a:t>4/23/2026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IV ECE-C     BATCH NO.14</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357057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500809"/>
          </a:xfrm>
        </p:spPr>
        <p:txBody>
          <a:bodyPr/>
          <a:lstStyle/>
          <a:p>
            <a:endParaRPr lang="en-IN" dirty="0"/>
          </a:p>
        </p:txBody>
      </p:sp>
      <p:sp>
        <p:nvSpPr>
          <p:cNvPr id="5" name="Date Placeholder 4"/>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sp>
        <p:nvSpPr>
          <p:cNvPr id="10" name="Content Placeholder 9"/>
          <p:cNvSpPr>
            <a:spLocks noGrp="1"/>
          </p:cNvSpPr>
          <p:nvPr>
            <p:ph sz="half" idx="1"/>
          </p:nvPr>
        </p:nvSpPr>
        <p:spPr>
          <a:xfrm>
            <a:off x="179512" y="2996952"/>
            <a:ext cx="8784976" cy="1224136"/>
          </a:xfrm>
        </p:spPr>
        <p:txBody>
          <a:bodyPr>
            <a:normAutofit/>
          </a:bodyPr>
          <a:lstStyle/>
          <a:p>
            <a:pPr marL="0" indent="0">
              <a:buNone/>
            </a:pPr>
            <a:r>
              <a:rPr lang="en-US" sz="2400" dirty="0">
                <a:latin typeface="Algerian" panose="04020705040A02060702" pitchFamily="82" charset="0"/>
              </a:rPr>
              <a:t>   </a:t>
            </a:r>
          </a:p>
          <a:p>
            <a:pPr marL="0" indent="0" algn="ctr">
              <a:buNone/>
            </a:pPr>
            <a:r>
              <a:rPr lang="en-US" sz="3600" b="1" dirty="0">
                <a:latin typeface="Times New Roman" panose="02020603050405020304" pitchFamily="18" charset="0"/>
                <a:cs typeface="Times New Roman" panose="02020603050405020304" pitchFamily="18" charset="0"/>
              </a:rPr>
              <a:t>EXTERNAL REVIEW PRESENTATION</a:t>
            </a:r>
            <a:endParaRPr lang="en-IN" sz="3600" b="1" dirty="0">
              <a:latin typeface="Times New Roman" panose="02020603050405020304" pitchFamily="18" charset="0"/>
              <a:cs typeface="Times New Roman" panose="02020603050405020304" pitchFamily="18" charset="0"/>
            </a:endParaRPr>
          </a:p>
          <a:p>
            <a:endParaRPr lang="en-IN" dirty="0"/>
          </a:p>
        </p:txBody>
      </p:sp>
      <p:pic>
        <p:nvPicPr>
          <p:cNvPr id="1027" name="Picture 3"/>
          <p:cNvPicPr>
            <a:picLocks noChangeAspect="1" noChangeArrowheads="1"/>
          </p:cNvPicPr>
          <p:nvPr/>
        </p:nvPicPr>
        <p:blipFill>
          <a:blip r:embed="rId2"/>
          <a:srcRect/>
          <a:stretch>
            <a:fillRect/>
          </a:stretch>
        </p:blipFill>
        <p:spPr bwMode="auto">
          <a:xfrm>
            <a:off x="0" y="71414"/>
            <a:ext cx="9144000" cy="1416050"/>
          </a:xfrm>
          <a:prstGeom prst="rect">
            <a:avLst/>
          </a:prstGeom>
          <a:noFill/>
          <a:ln w="9525">
            <a:noFill/>
            <a:miter lim="800000"/>
            <a:headEnd/>
            <a:tailEnd/>
          </a:ln>
          <a:effectLst/>
        </p:spPr>
      </p:pic>
    </p:spTree>
    <p:extLst>
      <p:ext uri="{BB962C8B-B14F-4D97-AF65-F5344CB8AC3E}">
        <p14:creationId xmlns:p14="http://schemas.microsoft.com/office/powerpoint/2010/main" val="4108226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3"/>
          <p:cNvSpPr>
            <a:spLocks noGrp="1"/>
          </p:cNvSpPr>
          <p:nvPr>
            <p:ph sz="half" idx="1"/>
          </p:nvPr>
        </p:nvSpPr>
        <p:spPr>
          <a:xfrm>
            <a:off x="345281" y="2204864"/>
            <a:ext cx="8475191" cy="1081160"/>
          </a:xfrm>
        </p:spPr>
        <p:txBody>
          <a:bodyPr>
            <a:noAutofit/>
          </a:bodyPr>
          <a:lstStyle/>
          <a:p>
            <a:pPr marL="0" indent="0" algn="ctr">
              <a:buNone/>
            </a:pPr>
            <a:r>
              <a:rPr lang="en-IN" sz="2800" b="1" dirty="0">
                <a:latin typeface="Times  new roman"/>
              </a:rPr>
              <a:t> </a:t>
            </a:r>
            <a:r>
              <a:rPr lang="en-US" sz="3200" b="1" dirty="0">
                <a:latin typeface="Times New Roman" panose="02020603050405020304" pitchFamily="18" charset="0"/>
                <a:cs typeface="Times New Roman" panose="02020603050405020304" pitchFamily="18" charset="0"/>
              </a:rPr>
              <a:t>Design and Implementation of APB Interfaced Vedic Multiplier in Verilog</a:t>
            </a:r>
          </a:p>
          <a:p>
            <a:pPr marL="0" indent="0" algn="ctr">
              <a:buNone/>
            </a:pPr>
            <a:endParaRPr lang="en-IN" sz="1800" b="1" dirty="0">
              <a:solidFill>
                <a:srgbClr val="002060"/>
              </a:solidFill>
              <a:latin typeface="Times New Roman" pitchFamily="18" charset="0"/>
              <a:cs typeface="Times New Roman" pitchFamily="18" charset="0"/>
            </a:endParaRPr>
          </a:p>
        </p:txBody>
      </p:sp>
      <p:sp>
        <p:nvSpPr>
          <p:cNvPr id="3" name="AutoShape 2" descr="Aditya Degree Colleges - Home | Facebook"/>
          <p:cNvSpPr>
            <a:spLocks noChangeAspect="1" noChangeArrowheads="1"/>
          </p:cNvSpPr>
          <p:nvPr/>
        </p:nvSpPr>
        <p:spPr bwMode="auto">
          <a:xfrm>
            <a:off x="116681" y="-144463"/>
            <a:ext cx="2286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itchFamily="18" charset="0"/>
              <a:cs typeface="Times New Roman" pitchFamily="18" charset="0"/>
            </a:endParaRPr>
          </a:p>
        </p:txBody>
      </p:sp>
      <p:sp>
        <p:nvSpPr>
          <p:cNvPr id="11" name="Google Shape;88;p1">
            <a:extLst>
              <a:ext uri="{FF2B5EF4-FFF2-40B4-BE49-F238E27FC236}">
                <a16:creationId xmlns:a16="http://schemas.microsoft.com/office/drawing/2014/main" id="{21FB0932-115D-CC28-EAA9-DEAEE91BC4C5}"/>
              </a:ext>
            </a:extLst>
          </p:cNvPr>
          <p:cNvSpPr txBox="1">
            <a:spLocks/>
          </p:cNvSpPr>
          <p:nvPr/>
        </p:nvSpPr>
        <p:spPr>
          <a:xfrm>
            <a:off x="345281" y="3828072"/>
            <a:ext cx="5158947" cy="2295511"/>
          </a:xfrm>
          <a:prstGeom prst="rect">
            <a:avLst/>
          </a:prstGeom>
          <a:noFill/>
          <a:ln>
            <a:noFill/>
          </a:ln>
        </p:spPr>
        <p:txBody>
          <a:bodyPr spcFirstLastPara="1" vert="horz" wrap="square" lIns="91425" tIns="45700" rIns="91425" bIns="45700"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spcBef>
                <a:spcPts val="0"/>
              </a:spcBef>
              <a:buClr>
                <a:schemeClr val="dk1"/>
              </a:buClr>
              <a:buSzPts val="1800"/>
              <a:buFont typeface="Arial" panose="020B0604020202020204" pitchFamily="34" charset="0"/>
              <a:buNone/>
            </a:pPr>
            <a:r>
              <a:rPr lang="en-US" sz="1800" b="1" dirty="0">
                <a:latin typeface="Times New Roman"/>
                <a:ea typeface="Times New Roman"/>
                <a:cs typeface="Times New Roman"/>
                <a:sym typeface="Times New Roman"/>
              </a:rPr>
              <a:t>Presented  by:</a:t>
            </a:r>
            <a:endParaRPr lang="en-US" sz="1800" dirty="0">
              <a:latin typeface="Times New Roman"/>
              <a:ea typeface="Times New Roman"/>
              <a:cs typeface="Times New Roman"/>
              <a:sym typeface="Times New Roman"/>
            </a:endParaRPr>
          </a:p>
          <a:p>
            <a:pPr marL="0" indent="0" algn="just">
              <a:buNone/>
            </a:pPr>
            <a:r>
              <a:rPr lang="en-US" sz="1800" dirty="0">
                <a:latin typeface="Times New Roman"/>
                <a:ea typeface="Times New Roman"/>
                <a:cs typeface="Times New Roman"/>
                <a:sym typeface="Times New Roman"/>
              </a:rPr>
              <a:t>ECE-B, Batch No: 6(VLSI)</a:t>
            </a:r>
          </a:p>
          <a:p>
            <a:pPr marL="0" indent="0" algn="just">
              <a:buNone/>
            </a:pPr>
            <a:r>
              <a:rPr lang="en-US" sz="1800" dirty="0" err="1">
                <a:latin typeface="Times New Roman"/>
                <a:ea typeface="Times New Roman"/>
                <a:cs typeface="Times New Roman"/>
                <a:sym typeface="Times New Roman"/>
              </a:rPr>
              <a:t>A.I.Priya</a:t>
            </a:r>
            <a:r>
              <a:rPr lang="en-US" sz="1800" dirty="0">
                <a:latin typeface="Times New Roman"/>
                <a:ea typeface="Times New Roman"/>
                <a:cs typeface="Times New Roman"/>
                <a:sym typeface="Times New Roman"/>
              </a:rPr>
              <a:t> Darshini  	22P31A0455</a:t>
            </a:r>
          </a:p>
          <a:p>
            <a:pPr marL="0" indent="0" algn="just">
              <a:buNone/>
            </a:pPr>
            <a:r>
              <a:rPr lang="en-US" sz="1800" dirty="0" err="1">
                <a:latin typeface="Times New Roman"/>
                <a:ea typeface="Times New Roman"/>
                <a:cs typeface="Times New Roman"/>
                <a:sym typeface="Times New Roman"/>
              </a:rPr>
              <a:t>B.Taruna</a:t>
            </a:r>
            <a:r>
              <a:rPr lang="en-US" sz="1800" dirty="0">
                <a:latin typeface="Times New Roman"/>
                <a:ea typeface="Times New Roman"/>
                <a:cs typeface="Times New Roman"/>
                <a:sym typeface="Times New Roman"/>
              </a:rPr>
              <a:t> Sri                22P31A0457</a:t>
            </a:r>
          </a:p>
          <a:p>
            <a:pPr marL="0" indent="0" algn="just">
              <a:buNone/>
            </a:pPr>
            <a:r>
              <a:rPr lang="en-US" sz="1800" dirty="0" err="1">
                <a:latin typeface="Times New Roman"/>
                <a:ea typeface="Times New Roman"/>
                <a:cs typeface="Times New Roman"/>
                <a:sym typeface="Times New Roman"/>
              </a:rPr>
              <a:t>R.Swathi</a:t>
            </a:r>
            <a:r>
              <a:rPr lang="en-US" sz="1800" dirty="0">
                <a:latin typeface="Times New Roman"/>
                <a:ea typeface="Times New Roman"/>
                <a:cs typeface="Times New Roman"/>
                <a:sym typeface="Times New Roman"/>
              </a:rPr>
              <a:t> Pravallika    22P31A04A8</a:t>
            </a:r>
          </a:p>
          <a:p>
            <a:pPr marL="0" indent="0" algn="just">
              <a:buNone/>
            </a:pPr>
            <a:r>
              <a:rPr lang="en-US" sz="1800" dirty="0" err="1">
                <a:latin typeface="Times New Roman"/>
                <a:ea typeface="Times New Roman"/>
                <a:cs typeface="Times New Roman"/>
                <a:sym typeface="Times New Roman"/>
              </a:rPr>
              <a:t>R.Sathibabu</a:t>
            </a:r>
            <a:r>
              <a:rPr lang="en-US" sz="1800" dirty="0">
                <a:latin typeface="Times New Roman"/>
                <a:ea typeface="Times New Roman"/>
                <a:cs typeface="Times New Roman"/>
                <a:sym typeface="Times New Roman"/>
              </a:rPr>
              <a:t>                 22P31A04A9</a:t>
            </a:r>
          </a:p>
          <a:p>
            <a:pPr marL="0" indent="0" algn="just">
              <a:buNone/>
            </a:pPr>
            <a:endParaRPr lang="en-US" sz="1800" dirty="0">
              <a:latin typeface="Times New Roman"/>
              <a:ea typeface="Times New Roman"/>
              <a:cs typeface="Times New Roman"/>
              <a:sym typeface="Times New Roman"/>
            </a:endParaRPr>
          </a:p>
          <a:p>
            <a:pPr marL="0" indent="0" algn="just">
              <a:buNone/>
            </a:pPr>
            <a:endParaRPr lang="en-US" sz="1800" dirty="0">
              <a:latin typeface="Times New Roman"/>
              <a:ea typeface="Times New Roman"/>
              <a:cs typeface="Times New Roman"/>
              <a:sym typeface="Times New Roman"/>
            </a:endParaRPr>
          </a:p>
          <a:p>
            <a:pPr marL="0" indent="0" algn="just">
              <a:buNone/>
            </a:pPr>
            <a:endParaRPr lang="en-US" sz="1800" dirty="0">
              <a:latin typeface="Times New Roman"/>
              <a:ea typeface="Times New Roman"/>
              <a:cs typeface="Times New Roman"/>
              <a:sym typeface="Times New Roman"/>
            </a:endParaRPr>
          </a:p>
          <a:p>
            <a:pPr marL="0" indent="0" algn="just">
              <a:spcBef>
                <a:spcPts val="1000"/>
              </a:spcBef>
              <a:buClr>
                <a:schemeClr val="dk1"/>
              </a:buClr>
              <a:buSzPts val="1800"/>
              <a:buFont typeface="Arial" panose="020B0604020202020204" pitchFamily="34" charset="0"/>
              <a:buNone/>
            </a:pPr>
            <a:endParaRPr lang="en-US" dirty="0"/>
          </a:p>
        </p:txBody>
      </p:sp>
      <p:sp>
        <p:nvSpPr>
          <p:cNvPr id="12" name="Google Shape;89;p1">
            <a:extLst>
              <a:ext uri="{FF2B5EF4-FFF2-40B4-BE49-F238E27FC236}">
                <a16:creationId xmlns:a16="http://schemas.microsoft.com/office/drawing/2014/main" id="{2EAC131C-10BD-2CFF-5579-909BE0501BF5}"/>
              </a:ext>
            </a:extLst>
          </p:cNvPr>
          <p:cNvSpPr txBox="1">
            <a:spLocks/>
          </p:cNvSpPr>
          <p:nvPr/>
        </p:nvSpPr>
        <p:spPr>
          <a:xfrm>
            <a:off x="4211960" y="3933056"/>
            <a:ext cx="4932040" cy="2016224"/>
          </a:xfrm>
          <a:prstGeom prst="rect">
            <a:avLst/>
          </a:prstGeom>
          <a:noFill/>
          <a:ln>
            <a:noFill/>
          </a:ln>
        </p:spPr>
        <p:txBody>
          <a:bodyPr spcFirstLastPara="1" vert="horz" wrap="square" lIns="91425" tIns="45700" rIns="91425" bIns="45700"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Clr>
                <a:schemeClr val="dk1"/>
              </a:buClr>
              <a:buSzPts val="1800"/>
              <a:buFont typeface="Arial" panose="020B0604020202020204" pitchFamily="34" charset="0"/>
              <a:buNone/>
            </a:pPr>
            <a:r>
              <a:rPr lang="en-US" sz="1800" dirty="0">
                <a:latin typeface="Times New Roman"/>
                <a:ea typeface="Times New Roman"/>
                <a:cs typeface="Times New Roman"/>
                <a:sym typeface="Times New Roman"/>
              </a:rPr>
              <a:t>                        </a:t>
            </a:r>
            <a:r>
              <a:rPr lang="en-US" sz="1800" b="1" dirty="0">
                <a:latin typeface="Times New Roman" panose="02020603050405020304" pitchFamily="18" charset="0"/>
                <a:ea typeface="Times New Roman"/>
                <a:cs typeface="Times New Roman" panose="02020603050405020304" pitchFamily="18" charset="0"/>
                <a:sym typeface="Times New Roman"/>
              </a:rPr>
              <a:t>Under the Guidance of</a:t>
            </a:r>
            <a:endParaRPr lang="en-US" dirty="0">
              <a:latin typeface="Times New Roman" panose="02020603050405020304" pitchFamily="18" charset="0"/>
              <a:cs typeface="Times New Roman" panose="02020603050405020304" pitchFamily="18" charset="0"/>
            </a:endParaRPr>
          </a:p>
          <a:p>
            <a:pPr marL="0" indent="0">
              <a:lnSpc>
                <a:spcPct val="100000"/>
              </a:lnSpc>
              <a:spcBef>
                <a:spcPts val="1000"/>
              </a:spcBef>
              <a:buClr>
                <a:schemeClr val="dk1"/>
              </a:buClr>
              <a:buSzPts val="1800"/>
              <a:buNone/>
            </a:pPr>
            <a:r>
              <a:rPr lang="en-US" sz="1800" dirty="0">
                <a:latin typeface="Times New Roman" panose="02020603050405020304" pitchFamily="18" charset="0"/>
                <a:ea typeface="Times New Roman"/>
                <a:cs typeface="Times New Roman" pitchFamily="18" charset="0"/>
                <a:sym typeface="Times New Roman"/>
              </a:rPr>
              <a:t>                       </a:t>
            </a:r>
            <a:r>
              <a:rPr lang="en-IN" sz="1800" dirty="0" err="1">
                <a:latin typeface="Times New Roman" panose="02020603050405020304" pitchFamily="18" charset="0"/>
                <a:cs typeface="Times New Roman" panose="02020603050405020304" pitchFamily="18" charset="0"/>
              </a:rPr>
              <a:t>Ms.S.S.V.Kiranmayi</a:t>
            </a:r>
            <a:r>
              <a:rPr lang="en-IN" sz="18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r>
              <a:rPr lang="en-IN" sz="1800" dirty="0" err="1">
                <a:latin typeface="Times New Roman" panose="02020603050405020304" pitchFamily="18" charset="0"/>
                <a:cs typeface="Times New Roman" panose="02020603050405020304" pitchFamily="18" charset="0"/>
              </a:rPr>
              <a:t>M.Tech</a:t>
            </a:r>
            <a:r>
              <a:rPr lang="en-IN" sz="1800" dirty="0">
                <a:latin typeface="Times New Roman" panose="02020603050405020304" pitchFamily="18" charset="0"/>
                <a:cs typeface="Times New Roman" panose="02020603050405020304" pitchFamily="18" charset="0"/>
              </a:rPr>
              <a:t>,</a:t>
            </a:r>
            <a:r>
              <a:rPr lang="en-US" alt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Ph.D</a:t>
            </a:r>
            <a:r>
              <a:rPr lang="en-US" altLang="en-IN" sz="1800" dirty="0">
                <a:latin typeface="Times New Roman" panose="02020603050405020304" pitchFamily="18" charset="0"/>
                <a:cs typeface="Times New Roman" panose="02020603050405020304" pitchFamily="18" charset="0"/>
              </a:rPr>
              <a:t>)</a:t>
            </a:r>
            <a:endParaRPr lang="en-IN" sz="1800" dirty="0">
              <a:latin typeface="Times New Roman" pitchFamily="18" charset="0"/>
              <a:cs typeface="Times New Roman" pitchFamily="18" charset="0"/>
            </a:endParaRPr>
          </a:p>
          <a:p>
            <a:pPr marL="0" indent="0">
              <a:lnSpc>
                <a:spcPct val="100000"/>
              </a:lnSpc>
              <a:spcBef>
                <a:spcPts val="1000"/>
              </a:spcBef>
              <a:buClr>
                <a:schemeClr val="dk1"/>
              </a:buClr>
              <a:buSzPts val="1800"/>
              <a:buNone/>
            </a:pPr>
            <a:r>
              <a:rPr lang="en-IN" sz="1800" dirty="0">
                <a:latin typeface="Times New Roman" pitchFamily="18" charset="0"/>
                <a:cs typeface="Times New Roman" pitchFamily="18" charset="0"/>
              </a:rPr>
              <a:t>                       Ass</a:t>
            </a:r>
            <a:r>
              <a:rPr lang="en-US" altLang="en-IN" sz="1800" dirty="0" err="1">
                <a:latin typeface="Times New Roman" panose="02020603050405020304" pitchFamily="18" charset="0"/>
                <a:cs typeface="Times New Roman" panose="02020603050405020304" pitchFamily="18" charset="0"/>
              </a:rPr>
              <a:t>istant</a:t>
            </a:r>
            <a:r>
              <a:rPr lang="en-IN" sz="1800" dirty="0">
                <a:latin typeface="Times New Roman" pitchFamily="18" charset="0"/>
                <a:cs typeface="Times New Roman" pitchFamily="18" charset="0"/>
              </a:rPr>
              <a:t> Professor</a:t>
            </a:r>
          </a:p>
          <a:p>
            <a:pPr marL="0" indent="0">
              <a:lnSpc>
                <a:spcPct val="100000"/>
              </a:lnSpc>
              <a:spcBef>
                <a:spcPts val="1000"/>
              </a:spcBef>
              <a:buClr>
                <a:schemeClr val="dk1"/>
              </a:buClr>
              <a:buSzPts val="1800"/>
              <a:buNone/>
            </a:pPr>
            <a:r>
              <a:rPr lang="en-US" sz="1800" dirty="0">
                <a:latin typeface="Times New Roman" panose="02020603050405020304" pitchFamily="18" charset="0"/>
                <a:ea typeface="Times New Roman"/>
                <a:cs typeface="Times New Roman" pitchFamily="18" charset="0"/>
                <a:sym typeface="Times New Roman"/>
              </a:rPr>
              <a:t>                       Department of ECE</a:t>
            </a:r>
            <a:r>
              <a:rPr lang="en-US" sz="2400" dirty="0">
                <a:latin typeface="Times New Roman" panose="02020603050405020304" pitchFamily="18" charset="0"/>
                <a:ea typeface="Times New Roman"/>
                <a:cs typeface="Times New Roman" pitchFamily="18" charset="0"/>
                <a:sym typeface="Times New Roman"/>
              </a:rPr>
              <a:t>, </a:t>
            </a:r>
            <a:r>
              <a:rPr lang="en-US" sz="1800" dirty="0">
                <a:latin typeface="Times New Roman" panose="02020603050405020304" pitchFamily="18" charset="0"/>
                <a:cs typeface="Times New Roman" pitchFamily="18" charset="0"/>
                <a:sym typeface="Times New Roman"/>
              </a:rPr>
              <a:t>ACET(A)</a:t>
            </a:r>
            <a:endParaRPr lang="en-US" sz="1800" dirty="0">
              <a:latin typeface="Times New Roman" panose="02020603050405020304" pitchFamily="18" charset="0"/>
              <a:cs typeface="Times New Roman" pitchFamily="18" charset="0"/>
            </a:endParaRPr>
          </a:p>
          <a:p>
            <a:pPr marL="0" indent="0">
              <a:spcBef>
                <a:spcPts val="1000"/>
              </a:spcBef>
              <a:buClr>
                <a:schemeClr val="dk1"/>
              </a:buClr>
              <a:buSzPts val="1800"/>
              <a:buFont typeface="Arial" panose="020B0604020202020204" pitchFamily="34" charset="0"/>
              <a:buNone/>
            </a:pPr>
            <a:endParaRPr lang="en-US" dirty="0">
              <a:latin typeface="Times New Roman" panose="02020603050405020304" pitchFamily="18" charset="0"/>
              <a:cs typeface="Times New Roman" pitchFamily="18" charset="0"/>
            </a:endParaRPr>
          </a:p>
          <a:p>
            <a:pPr marL="0" indent="0">
              <a:spcBef>
                <a:spcPts val="1000"/>
              </a:spcBef>
              <a:buClr>
                <a:schemeClr val="dk1"/>
              </a:buClr>
              <a:buSzPts val="1800"/>
              <a:buFont typeface="Arial" panose="020B0604020202020204" pitchFamily="34" charset="0"/>
              <a:buNone/>
            </a:pPr>
            <a:r>
              <a:rPr lang="en-US" sz="1800" dirty="0">
                <a:latin typeface="Times New Roman"/>
                <a:ea typeface="Times New Roman"/>
                <a:cs typeface="Times New Roman"/>
                <a:sym typeface="Times New Roman"/>
              </a:rPr>
              <a:t>                       </a:t>
            </a:r>
            <a:endParaRPr lang="en-US" dirty="0"/>
          </a:p>
          <a:p>
            <a:pPr marL="0" indent="0">
              <a:spcBef>
                <a:spcPts val="1000"/>
              </a:spcBef>
              <a:buClr>
                <a:schemeClr val="dk1"/>
              </a:buClr>
              <a:buSzPts val="1800"/>
              <a:buFont typeface="Arial" panose="020B0604020202020204" pitchFamily="34" charset="0"/>
              <a:buNone/>
            </a:pPr>
            <a:endParaRPr lang="en-US" sz="1800" dirty="0">
              <a:latin typeface="Times New Roman"/>
              <a:ea typeface="Times New Roman"/>
              <a:cs typeface="Times New Roman"/>
              <a:sym typeface="Times New Roman"/>
            </a:endParaRPr>
          </a:p>
        </p:txBody>
      </p:sp>
      <p:sp>
        <p:nvSpPr>
          <p:cNvPr id="2" name="Slide Number Placeholder 1">
            <a:extLst>
              <a:ext uri="{FF2B5EF4-FFF2-40B4-BE49-F238E27FC236}">
                <a16:creationId xmlns:a16="http://schemas.microsoft.com/office/drawing/2014/main" id="{A17762F7-CC5D-56A3-2E29-B7AA6DAD0BF6}"/>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
        <p:nvSpPr>
          <p:cNvPr id="4" name="Footer Placeholder 3">
            <a:extLst>
              <a:ext uri="{FF2B5EF4-FFF2-40B4-BE49-F238E27FC236}">
                <a16:creationId xmlns:a16="http://schemas.microsoft.com/office/drawing/2014/main" id="{DE2C0B4B-FDCD-CFE2-2521-57BA890784A3}"/>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Date Placeholder 5">
            <a:extLst>
              <a:ext uri="{FF2B5EF4-FFF2-40B4-BE49-F238E27FC236}">
                <a16:creationId xmlns:a16="http://schemas.microsoft.com/office/drawing/2014/main" id="{D6A37B4F-4ED2-4367-0E86-DA60FA260AC0}"/>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pic>
        <p:nvPicPr>
          <p:cNvPr id="2050" name="Picture 2"/>
          <p:cNvPicPr>
            <a:picLocks noChangeAspect="1" noChangeArrowheads="1"/>
          </p:cNvPicPr>
          <p:nvPr/>
        </p:nvPicPr>
        <p:blipFill>
          <a:blip r:embed="rId3"/>
          <a:srcRect/>
          <a:stretch>
            <a:fillRect/>
          </a:stretch>
        </p:blipFill>
        <p:spPr bwMode="auto">
          <a:xfrm>
            <a:off x="0" y="142852"/>
            <a:ext cx="9144000" cy="1357322"/>
          </a:xfrm>
          <a:prstGeom prst="rect">
            <a:avLst/>
          </a:prstGeom>
          <a:noFill/>
          <a:ln w="9525">
            <a:noFill/>
            <a:miter lim="800000"/>
            <a:headEnd/>
            <a:tailEnd/>
          </a:ln>
          <a:effectLst/>
        </p:spPr>
      </p:pic>
    </p:spTree>
    <p:extLst>
      <p:ext uri="{BB962C8B-B14F-4D97-AF65-F5344CB8AC3E}">
        <p14:creationId xmlns:p14="http://schemas.microsoft.com/office/powerpoint/2010/main" val="3444814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BC23-EA2F-D4B1-1122-7FC67787DF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257C1F-5DE3-D962-E709-A0AD1CD0AF70}"/>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30D11B99-5D96-7B7F-74DD-72CA7012FC0A}"/>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a:t>
            </a:r>
          </a:p>
        </p:txBody>
      </p:sp>
      <p:sp>
        <p:nvSpPr>
          <p:cNvPr id="6" name="Slide Number Placeholder 5">
            <a:extLst>
              <a:ext uri="{FF2B5EF4-FFF2-40B4-BE49-F238E27FC236}">
                <a16:creationId xmlns:a16="http://schemas.microsoft.com/office/drawing/2014/main" id="{B07A4B41-E0A2-0A05-76EE-A67FBA98DEBC}"/>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8" name="TextBox 7">
            <a:extLst>
              <a:ext uri="{FF2B5EF4-FFF2-40B4-BE49-F238E27FC236}">
                <a16:creationId xmlns:a16="http://schemas.microsoft.com/office/drawing/2014/main" id="{66BA4C46-DD55-759A-3220-F405C3DED299}"/>
              </a:ext>
            </a:extLst>
          </p:cNvPr>
          <p:cNvSpPr txBox="1"/>
          <p:nvPr/>
        </p:nvSpPr>
        <p:spPr>
          <a:xfrm>
            <a:off x="2483768" y="424130"/>
            <a:ext cx="4572000"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CONTENTS</a:t>
            </a:r>
            <a:endParaRPr lang="en-US" sz="3200" b="1" dirty="0"/>
          </a:p>
        </p:txBody>
      </p:sp>
      <p:sp>
        <p:nvSpPr>
          <p:cNvPr id="7" name="TextBox 6">
            <a:extLst>
              <a:ext uri="{FF2B5EF4-FFF2-40B4-BE49-F238E27FC236}">
                <a16:creationId xmlns:a16="http://schemas.microsoft.com/office/drawing/2014/main" id="{8DC7B415-DDEC-D715-278B-3F60872160B8}"/>
              </a:ext>
            </a:extLst>
          </p:cNvPr>
          <p:cNvSpPr txBox="1"/>
          <p:nvPr/>
        </p:nvSpPr>
        <p:spPr>
          <a:xfrm>
            <a:off x="1043608" y="1412776"/>
            <a:ext cx="7776864" cy="4658135"/>
          </a:xfrm>
          <a:prstGeom prst="rect">
            <a:avLst/>
          </a:prstGeom>
          <a:noFill/>
        </p:spPr>
        <p:txBody>
          <a:bodyPr wrap="square" numCol="2">
            <a:spAutoFit/>
          </a:bodyPr>
          <a:lstStyle/>
          <a:p>
            <a:pPr>
              <a:lnSpc>
                <a:spcPct val="150000"/>
              </a:lnSpc>
              <a:buFont typeface="Wingdings" pitchFamily="2" charset="2"/>
              <a:buChar char="Ø"/>
            </a:pPr>
            <a:r>
              <a:rPr lang="en-US" sz="1800" dirty="0">
                <a:latin typeface="Times New Roman" panose="02020603050405020304" pitchFamily="18" charset="0"/>
                <a:cs typeface="Times New Roman" panose="02020603050405020304" pitchFamily="18" charset="0"/>
              </a:rPr>
              <a:t>ABSTRACT</a:t>
            </a:r>
          </a:p>
          <a:p>
            <a:pPr>
              <a:lnSpc>
                <a:spcPct val="150000"/>
              </a:lnSpc>
              <a:buFont typeface="Wingdings" pitchFamily="2" charset="2"/>
              <a:buChar char="Ø"/>
            </a:pPr>
            <a:r>
              <a:rPr lang="en-IN" sz="1800" dirty="0">
                <a:latin typeface="Times New Roman" panose="02020603050405020304" pitchFamily="18" charset="0"/>
                <a:cs typeface="Times New Roman" pitchFamily="18" charset="0"/>
              </a:rPr>
              <a:t>INTRODUCTION</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LITERATURE SURVEY</a:t>
            </a:r>
            <a:endParaRPr lang="en-IN" sz="1800" dirty="0">
              <a:latin typeface="Times New Roman" panose="02020603050405020304" pitchFamily="18" charset="0"/>
              <a:cs typeface="Times New Roman" pitchFamily="18" charset="0"/>
            </a:endParaRPr>
          </a:p>
          <a:p>
            <a:pPr>
              <a:lnSpc>
                <a:spcPct val="150000"/>
              </a:lnSpc>
              <a:buFont typeface="Wingdings" pitchFamily="2" charset="2"/>
              <a:buChar char="Ø"/>
            </a:pPr>
            <a:r>
              <a:rPr lang="en-IN" sz="1800" dirty="0">
                <a:latin typeface="Times New Roman" panose="02020603050405020304" pitchFamily="18" charset="0"/>
                <a:cs typeface="Times New Roman" pitchFamily="18" charset="0"/>
              </a:rPr>
              <a:t>EXISTING METHODOLOGY</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PROPOSED METHODOLOGY</a:t>
            </a:r>
            <a:endParaRPr lang="en-IN" sz="1800" dirty="0">
              <a:latin typeface="Times New Roman" panose="02020603050405020304" pitchFamily="18" charset="0"/>
              <a:cs typeface="Times New Roman" pitchFamily="18" charset="0"/>
            </a:endParaRPr>
          </a:p>
          <a:p>
            <a:pPr>
              <a:lnSpc>
                <a:spcPct val="150000"/>
              </a:lnSpc>
              <a:buFont typeface="Wingdings" pitchFamily="2" charset="2"/>
              <a:buChar char="Ø"/>
            </a:pPr>
            <a:r>
              <a:rPr lang="en-IN" sz="1800" dirty="0">
                <a:latin typeface="Times New Roman" panose="02020603050405020304" pitchFamily="18" charset="0"/>
                <a:cs typeface="Times New Roman" pitchFamily="18" charset="0"/>
              </a:rPr>
              <a:t>MECHANISM OF VEDIC MULTIPLICATION</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EXAMPLE OF VEDIC MULTIPLICATION</a:t>
            </a:r>
            <a:endParaRPr lang="en-IN" sz="1800" dirty="0">
              <a:latin typeface="Times New Roman" panose="02020603050405020304" pitchFamily="18" charset="0"/>
              <a:cs typeface="Times New Roman" pitchFamily="18" charset="0"/>
            </a:endParaRPr>
          </a:p>
          <a:p>
            <a:pPr>
              <a:lnSpc>
                <a:spcPct val="150000"/>
              </a:lnSpc>
              <a:buFont typeface="Wingdings" pitchFamily="2" charset="2"/>
              <a:buChar char="Ø"/>
            </a:pPr>
            <a:r>
              <a:rPr lang="en-IN" dirty="0">
                <a:latin typeface="Times New Roman" panose="02020603050405020304" pitchFamily="18" charset="0"/>
                <a:cs typeface="Times New Roman" pitchFamily="18" charset="0"/>
              </a:rPr>
              <a:t>BLOCK DIAGRAM</a:t>
            </a:r>
          </a:p>
          <a:p>
            <a:pPr>
              <a:lnSpc>
                <a:spcPct val="150000"/>
              </a:lnSpc>
            </a:pPr>
            <a:endParaRPr lang="en-IN" dirty="0">
              <a:latin typeface="Times New Roman" panose="02020603050405020304" pitchFamily="18" charset="0"/>
              <a:cs typeface="Times New Roman" pitchFamily="18" charset="0"/>
            </a:endParaRP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itchFamily="18" charset="0"/>
              </a:rPr>
              <a:t>MODULES</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FUNCTIONAL &amp; NON-FUNCTIONAL REQUIREMENTS</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BASIC USER INTERFACE</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RESULTS</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SAMPLE TESTCASES</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CONCLUSION </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FUTURE SCOPE</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REFERENCES</a:t>
            </a:r>
          </a:p>
          <a:p>
            <a:pPr>
              <a:lnSpc>
                <a:spcPct val="150000"/>
              </a:lnSpc>
              <a:buFont typeface="Wingdings" pitchFamily="2" charset="2"/>
              <a:buChar char="Ø"/>
            </a:pPr>
            <a:r>
              <a:rPr lang="en-IN" dirty="0">
                <a:latin typeface="Times New Roman" panose="02020603050405020304" pitchFamily="18" charset="0"/>
                <a:cs typeface="Times New Roman" pitchFamily="18" charset="0"/>
              </a:rPr>
              <a:t>PAPER ACCEPTANCE</a:t>
            </a:r>
          </a:p>
        </p:txBody>
      </p:sp>
    </p:spTree>
    <p:extLst>
      <p:ext uri="{BB962C8B-B14F-4D97-AF65-F5344CB8AC3E}">
        <p14:creationId xmlns:p14="http://schemas.microsoft.com/office/powerpoint/2010/main" val="3163307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BC23-EA2F-D4B1-1122-7FC67787DF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257C1F-5DE3-D962-E709-A0AD1CD0AF70}"/>
              </a:ext>
            </a:extLst>
          </p:cNvPr>
          <p:cNvSpPr>
            <a:spLocks noGrp="1"/>
          </p:cNvSpPr>
          <p:nvPr>
            <p:ph type="dt" sz="half" idx="10"/>
          </p:nvPr>
        </p:nvSpPr>
        <p:spPr>
          <a:xfrm>
            <a:off x="603091" y="6356350"/>
            <a:ext cx="2057400" cy="365125"/>
          </a:xfrm>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30D11B99-5D96-7B7F-74DD-72CA7012FC0A}"/>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endParaRPr lang="en-US" dirty="0"/>
          </a:p>
        </p:txBody>
      </p:sp>
      <p:sp>
        <p:nvSpPr>
          <p:cNvPr id="6" name="Slide Number Placeholder 5">
            <a:extLst>
              <a:ext uri="{FF2B5EF4-FFF2-40B4-BE49-F238E27FC236}">
                <a16:creationId xmlns:a16="http://schemas.microsoft.com/office/drawing/2014/main" id="{B07A4B41-E0A2-0A05-76EE-A67FBA98DEBC}"/>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8" name="TextBox 7">
            <a:extLst>
              <a:ext uri="{FF2B5EF4-FFF2-40B4-BE49-F238E27FC236}">
                <a16:creationId xmlns:a16="http://schemas.microsoft.com/office/drawing/2014/main" id="{66BA4C46-DD55-759A-3220-F405C3DED299}"/>
              </a:ext>
            </a:extLst>
          </p:cNvPr>
          <p:cNvSpPr txBox="1"/>
          <p:nvPr/>
        </p:nvSpPr>
        <p:spPr>
          <a:xfrm>
            <a:off x="2286000" y="764704"/>
            <a:ext cx="4572000"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ABSTRACT</a:t>
            </a:r>
            <a:endParaRPr lang="en-US" sz="3200" b="1" dirty="0"/>
          </a:p>
        </p:txBody>
      </p:sp>
      <p:sp>
        <p:nvSpPr>
          <p:cNvPr id="3" name="TextBox 2">
            <a:extLst>
              <a:ext uri="{FF2B5EF4-FFF2-40B4-BE49-F238E27FC236}">
                <a16:creationId xmlns:a16="http://schemas.microsoft.com/office/drawing/2014/main" id="{A4CC7528-0739-BCDF-64ED-A3269C3CA273}"/>
              </a:ext>
            </a:extLst>
          </p:cNvPr>
          <p:cNvSpPr txBox="1"/>
          <p:nvPr/>
        </p:nvSpPr>
        <p:spPr>
          <a:xfrm>
            <a:off x="395536" y="1628800"/>
            <a:ext cx="8352928" cy="378206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Vedic multiplier based on the </a:t>
            </a:r>
            <a:r>
              <a:rPr lang="en-US" dirty="0" err="1">
                <a:latin typeface="Times New Roman" panose="02020603050405020304" pitchFamily="18" charset="0"/>
                <a:cs typeface="Times New Roman" panose="02020603050405020304" pitchFamily="18" charset="0"/>
              </a:rPr>
              <a:t>Urdhva-Tiryagbhyam</a:t>
            </a:r>
            <a:r>
              <a:rPr lang="en-US" dirty="0">
                <a:latin typeface="Times New Roman" panose="02020603050405020304" pitchFamily="18" charset="0"/>
                <a:cs typeface="Times New Roman" panose="02020603050405020304" pitchFamily="18" charset="0"/>
              </a:rPr>
              <a:t> sutra is designed and implemented using Verilog HDL. The design utilizes parallel generation of partial products to perform multiplication operations efficiently.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enable communication with processor-based systems, the multiplier is interfaced with the AMBA APB (Advanced Peripheral Bus) protocol. The APB interface allows structured data transfer through register-based read and write operations.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complete design is modeled and verified using Xilinx </a:t>
            </a:r>
            <a:r>
              <a:rPr lang="en-US" dirty="0" err="1">
                <a:latin typeface="Times New Roman" panose="02020603050405020304" pitchFamily="18" charset="0"/>
                <a:cs typeface="Times New Roman" panose="02020603050405020304" pitchFamily="18" charset="0"/>
              </a:rPr>
              <a:t>Vivado</a:t>
            </a:r>
            <a:r>
              <a:rPr lang="en-US" dirty="0">
                <a:latin typeface="Times New Roman" panose="02020603050405020304" pitchFamily="18" charset="0"/>
                <a:cs typeface="Times New Roman" panose="02020603050405020304" pitchFamily="18" charset="0"/>
              </a:rPr>
              <a:t> simulation tools. The results confirm correct functionality of the system, demonstrating successful integration of the Vedic multiplier with the APB interface</a:t>
            </a: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28809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3276-DCC2-0214-0D25-3A11391EB5A4}"/>
              </a:ext>
            </a:extLst>
          </p:cNvPr>
          <p:cNvSpPr>
            <a:spLocks noGrp="1"/>
          </p:cNvSpPr>
          <p:nvPr>
            <p:ph type="title"/>
          </p:nvPr>
        </p:nvSpPr>
        <p:spPr>
          <a:xfrm>
            <a:off x="602357" y="651277"/>
            <a:ext cx="7886700" cy="1193547"/>
          </a:xfrm>
        </p:spPr>
        <p:txBody>
          <a:bodyPr>
            <a:normAutofit/>
          </a:bodyPr>
          <a:lstStyle/>
          <a:p>
            <a:pPr algn="ctr"/>
            <a:r>
              <a:rPr lang="en-US" sz="3200" b="1" dirty="0">
                <a:latin typeface="Times New Roman" panose="02020603050405020304" pitchFamily="18" charset="0"/>
                <a:cs typeface="Times New Roman" panose="02020603050405020304" pitchFamily="18" charset="0"/>
              </a:rPr>
              <a:t>INTRODUCTION</a:t>
            </a:r>
          </a:p>
        </p:txBody>
      </p:sp>
      <p:sp>
        <p:nvSpPr>
          <p:cNvPr id="4" name="Date Placeholder 3">
            <a:extLst>
              <a:ext uri="{FF2B5EF4-FFF2-40B4-BE49-F238E27FC236}">
                <a16:creationId xmlns:a16="http://schemas.microsoft.com/office/drawing/2014/main" id="{A8E20DBD-2F97-4036-0549-4D67961D8DF2}"/>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7C279019-BDF0-D150-5368-43C23CED50A5}"/>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12E4D7EA-88B2-F633-245B-0BBC899ECC8E}"/>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8" name="Rectangle 2">
            <a:extLst>
              <a:ext uri="{FF2B5EF4-FFF2-40B4-BE49-F238E27FC236}">
                <a16:creationId xmlns:a16="http://schemas.microsoft.com/office/drawing/2014/main" id="{C194EFE8-02B3-120C-EBBF-9A4130ACB322}"/>
              </a:ext>
            </a:extLst>
          </p:cNvPr>
          <p:cNvSpPr>
            <a:spLocks noChangeArrowheads="1"/>
          </p:cNvSpPr>
          <p:nvPr/>
        </p:nvSpPr>
        <p:spPr bwMode="auto">
          <a:xfrm>
            <a:off x="628650" y="3409985"/>
            <a:ext cx="8028384"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DD31721-DBD8-9D85-3232-2E176E4B077D}"/>
              </a:ext>
            </a:extLst>
          </p:cNvPr>
          <p:cNvSpPr txBox="1"/>
          <p:nvPr/>
        </p:nvSpPr>
        <p:spPr>
          <a:xfrm flipV="1">
            <a:off x="1763688" y="5687537"/>
            <a:ext cx="1287135" cy="45719"/>
          </a:xfrm>
          <a:prstGeom prst="rect">
            <a:avLst/>
          </a:prstGeom>
          <a:noFill/>
        </p:spPr>
        <p:txBody>
          <a:bodyPr wrap="square" rtlCol="0">
            <a:spAutoFit/>
          </a:bodyPr>
          <a:lstStyle/>
          <a:p>
            <a:endParaRPr lang="en-US" dirty="0"/>
          </a:p>
        </p:txBody>
      </p:sp>
      <p:sp>
        <p:nvSpPr>
          <p:cNvPr id="15" name="Rectangle 5">
            <a:extLst>
              <a:ext uri="{FF2B5EF4-FFF2-40B4-BE49-F238E27FC236}">
                <a16:creationId xmlns:a16="http://schemas.microsoft.com/office/drawing/2014/main" id="{F1C13D9F-802C-66B8-D58D-A3A9B15EF69B}"/>
              </a:ext>
            </a:extLst>
          </p:cNvPr>
          <p:cNvSpPr>
            <a:spLocks noChangeArrowheads="1"/>
          </p:cNvSpPr>
          <p:nvPr/>
        </p:nvSpPr>
        <p:spPr bwMode="auto">
          <a:xfrm>
            <a:off x="486966" y="1321924"/>
            <a:ext cx="8117482"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endParaRPr lang="en-US" dirty="0">
              <a:latin typeface="Times  new roman"/>
            </a:endParaRP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Advanced Peripheral Bus (APB) is part of the AMBA protocol used for low-bandwidth control accesses.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Vedic multiplier, based on </a:t>
            </a:r>
            <a:r>
              <a:rPr lang="en-US" dirty="0" err="1">
                <a:latin typeface="Times New Roman" panose="02020603050405020304" pitchFamily="18" charset="0"/>
                <a:cs typeface="Times New Roman" panose="02020603050405020304" pitchFamily="18" charset="0"/>
              </a:rPr>
              <a:t>Urdhva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Tiryagbhyam</a:t>
            </a:r>
            <a:r>
              <a:rPr lang="en-US" dirty="0">
                <a:latin typeface="Times New Roman" panose="02020603050405020304" pitchFamily="18" charset="0"/>
                <a:cs typeface="Times New Roman" panose="02020603050405020304" pitchFamily="18" charset="0"/>
              </a:rPr>
              <a:t> sutra, offers faster multiplication using parallel computation.</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implements a Vedic multiplier interfaced with APB using Verilog HDL for high-speed arithmetic operations in SoC systems.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design achieves better throughput and reduced latency compared to traditional multipliers.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system demonstrates improved area efficiency and scalability, making it suitable for real-time embedded and DSP applications.</a:t>
            </a:r>
          </a:p>
          <a:p>
            <a:pPr marL="285750" lvl="0" indent="-285750" algn="just" eaLnBrk="0" fontAlgn="base" hangingPunct="0">
              <a:lnSpc>
                <a:spcPct val="150000"/>
              </a:lnSpc>
              <a:spcBef>
                <a:spcPct val="0"/>
              </a:spcBef>
              <a:spcAft>
                <a:spcPct val="0"/>
              </a:spcAft>
              <a:buFont typeface="Arial" panose="020B0604020202020204" pitchFamily="34" charset="0"/>
              <a:buChar char="•"/>
            </a:pPr>
            <a:endParaRPr lang="en-US" dirty="0">
              <a:latin typeface="Times  new roman"/>
            </a:endParaRPr>
          </a:p>
        </p:txBody>
      </p:sp>
    </p:spTree>
    <p:extLst>
      <p:ext uri="{BB962C8B-B14F-4D97-AF65-F5344CB8AC3E}">
        <p14:creationId xmlns:p14="http://schemas.microsoft.com/office/powerpoint/2010/main" val="803094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2493-29FA-EF6E-A832-64F096431716}"/>
              </a:ext>
            </a:extLst>
          </p:cNvPr>
          <p:cNvSpPr>
            <a:spLocks noGrp="1"/>
          </p:cNvSpPr>
          <p:nvPr>
            <p:ph type="title"/>
          </p:nvPr>
        </p:nvSpPr>
        <p:spPr>
          <a:xfrm>
            <a:off x="628650" y="-387423"/>
            <a:ext cx="7886700" cy="1728192"/>
          </a:xfrm>
        </p:spPr>
        <p:txBody>
          <a:bodyPr>
            <a:normAutofit/>
          </a:bodyPr>
          <a:lstStyle/>
          <a:p>
            <a:pPr algn="ctr"/>
            <a:r>
              <a:rPr lang="en-IN" sz="3200" b="1" dirty="0">
                <a:latin typeface="Times New Roman" panose="02020603050405020304" pitchFamily="18" charset="0"/>
                <a:cs typeface="Times New Roman" panose="02020603050405020304" pitchFamily="18" charset="0"/>
              </a:rPr>
              <a:t>LITERATURE SURVEY</a:t>
            </a:r>
          </a:p>
        </p:txBody>
      </p:sp>
      <p:sp>
        <p:nvSpPr>
          <p:cNvPr id="4" name="Date Placeholder 3">
            <a:extLst>
              <a:ext uri="{FF2B5EF4-FFF2-40B4-BE49-F238E27FC236}">
                <a16:creationId xmlns:a16="http://schemas.microsoft.com/office/drawing/2014/main" id="{4E83D737-FD38-B49F-BA16-5C00E8215C5D}"/>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6A024A29-1D47-60C3-574B-204A494EC90B}"/>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01D41192-6C38-27FA-A97F-0D37A844287B}"/>
              </a:ext>
            </a:extLst>
          </p:cNvPr>
          <p:cNvSpPr>
            <a:spLocks noGrp="1"/>
          </p:cNvSpPr>
          <p:nvPr>
            <p:ph type="sldNum" sz="quarter" idx="12"/>
          </p:nvPr>
        </p:nvSpPr>
        <p:spPr/>
        <p:txBody>
          <a:bodyPr/>
          <a:lstStyle/>
          <a:p>
            <a:fld id="{B6F15528-21DE-4FAA-801E-634DDDAF4B2B}" type="slidenum">
              <a:rPr lang="en-US" smtClean="0"/>
              <a:t>6</a:t>
            </a:fld>
            <a:endParaRPr lang="en-US"/>
          </a:p>
        </p:txBody>
      </p:sp>
      <p:graphicFrame>
        <p:nvGraphicFramePr>
          <p:cNvPr id="13" name="Content Placeholder 12">
            <a:extLst>
              <a:ext uri="{FF2B5EF4-FFF2-40B4-BE49-F238E27FC236}">
                <a16:creationId xmlns:a16="http://schemas.microsoft.com/office/drawing/2014/main" id="{B56E3EF5-6133-BD8D-B109-0A32B1EA3189}"/>
              </a:ext>
            </a:extLst>
          </p:cNvPr>
          <p:cNvGraphicFramePr>
            <a:graphicFrameLocks noGrp="1"/>
          </p:cNvGraphicFramePr>
          <p:nvPr>
            <p:ph idx="1"/>
            <p:extLst>
              <p:ext uri="{D42A27DB-BD31-4B8C-83A1-F6EECF244321}">
                <p14:modId xmlns:p14="http://schemas.microsoft.com/office/powerpoint/2010/main" val="3213282246"/>
              </p:ext>
            </p:extLst>
          </p:nvPr>
        </p:nvGraphicFramePr>
        <p:xfrm>
          <a:off x="628650" y="836713"/>
          <a:ext cx="8119815" cy="5519637"/>
        </p:xfrm>
        <a:graphic>
          <a:graphicData uri="http://schemas.openxmlformats.org/drawingml/2006/table">
            <a:tbl>
              <a:tblPr firstRow="1" bandRow="1">
                <a:tableStyleId>{5940675A-B579-460E-94D1-54222C63F5DA}</a:tableStyleId>
              </a:tblPr>
              <a:tblGrid>
                <a:gridCol w="1623963">
                  <a:extLst>
                    <a:ext uri="{9D8B030D-6E8A-4147-A177-3AD203B41FA5}">
                      <a16:colId xmlns:a16="http://schemas.microsoft.com/office/drawing/2014/main" val="3072942675"/>
                    </a:ext>
                  </a:extLst>
                </a:gridCol>
                <a:gridCol w="1623963">
                  <a:extLst>
                    <a:ext uri="{9D8B030D-6E8A-4147-A177-3AD203B41FA5}">
                      <a16:colId xmlns:a16="http://schemas.microsoft.com/office/drawing/2014/main" val="2843029916"/>
                    </a:ext>
                  </a:extLst>
                </a:gridCol>
                <a:gridCol w="1623963">
                  <a:extLst>
                    <a:ext uri="{9D8B030D-6E8A-4147-A177-3AD203B41FA5}">
                      <a16:colId xmlns:a16="http://schemas.microsoft.com/office/drawing/2014/main" val="3641928407"/>
                    </a:ext>
                  </a:extLst>
                </a:gridCol>
                <a:gridCol w="1623963">
                  <a:extLst>
                    <a:ext uri="{9D8B030D-6E8A-4147-A177-3AD203B41FA5}">
                      <a16:colId xmlns:a16="http://schemas.microsoft.com/office/drawing/2014/main" val="3488380318"/>
                    </a:ext>
                  </a:extLst>
                </a:gridCol>
                <a:gridCol w="1623963">
                  <a:extLst>
                    <a:ext uri="{9D8B030D-6E8A-4147-A177-3AD203B41FA5}">
                      <a16:colId xmlns:a16="http://schemas.microsoft.com/office/drawing/2014/main" val="1856244152"/>
                    </a:ext>
                  </a:extLst>
                </a:gridCol>
              </a:tblGrid>
              <a:tr h="507395">
                <a:tc>
                  <a:txBody>
                    <a:bodyPr/>
                    <a:lstStyle/>
                    <a:p>
                      <a:pPr>
                        <a:buNone/>
                      </a:pPr>
                      <a:r>
                        <a:rPr lang="en-IN" b="1" dirty="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Journal Name</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Merits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Gap Identified</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12680991"/>
                  </a:ext>
                </a:extLst>
              </a:tr>
              <a:tr h="1147663">
                <a:tc>
                  <a:txBody>
                    <a:bodyPr/>
                    <a:lstStyle/>
                    <a:p>
                      <a:pPr>
                        <a:buNone/>
                      </a:pPr>
                      <a:r>
                        <a:rPr lang="en-US" dirty="0">
                          <a:latin typeface="Times New Roman" panose="02020603050405020304" pitchFamily="18" charset="0"/>
                          <a:cs typeface="Times New Roman" panose="02020603050405020304" pitchFamily="18" charset="0"/>
                        </a:rPr>
                        <a:t>APB Protocol of AMBA Technology</a:t>
                      </a:r>
                    </a:p>
                  </a:txBody>
                  <a:tcPr anchor="ctr"/>
                </a:tc>
                <a:tc>
                  <a:txBody>
                    <a:bodyPr/>
                    <a:lstStyle/>
                    <a:p>
                      <a:pPr>
                        <a:buNone/>
                      </a:pPr>
                      <a:r>
                        <a:rPr lang="en-US" dirty="0">
                          <a:latin typeface="Times New Roman" panose="02020603050405020304" pitchFamily="18" charset="0"/>
                          <a:cs typeface="Times New Roman" panose="02020603050405020304" pitchFamily="18" charset="0"/>
                        </a:rPr>
                        <a:t>International Journal of Creative Research Thoughts (IJCRT), 2025</a:t>
                      </a:r>
                    </a:p>
                  </a:txBody>
                  <a:tcPr anchor="ctr"/>
                </a:tc>
                <a:tc>
                  <a:txBody>
                    <a:bodyPr/>
                    <a:lstStyle/>
                    <a:p>
                      <a:pPr>
                        <a:buNone/>
                      </a:pPr>
                      <a:r>
                        <a:rPr lang="en-US" dirty="0">
                          <a:latin typeface="Times New Roman" panose="02020603050405020304" pitchFamily="18" charset="0"/>
                          <a:cs typeface="Times New Roman" panose="02020603050405020304" pitchFamily="18" charset="0"/>
                        </a:rPr>
                        <a:t>Study of APB signals, architecture, read/write operations</a:t>
                      </a:r>
                    </a:p>
                  </a:txBody>
                  <a:tcPr anchor="ctr"/>
                </a:tc>
                <a:tc>
                  <a:txBody>
                    <a:bodyPr/>
                    <a:lstStyle/>
                    <a:p>
                      <a:pPr>
                        <a:buNone/>
                      </a:pPr>
                      <a:r>
                        <a:rPr lang="en-US">
                          <a:latin typeface="Times New Roman" panose="02020603050405020304" pitchFamily="18" charset="0"/>
                          <a:cs typeface="Times New Roman" panose="02020603050405020304" pitchFamily="18" charset="0"/>
                        </a:rPr>
                        <a:t>Simple design, low power, easy peripheral integration</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Computational blocks like Vedic multipliers are not interfaced with the APB protocol</a:t>
                      </a:r>
                    </a:p>
                  </a:txBody>
                  <a:tcPr anchor="ctr"/>
                </a:tc>
                <a:extLst>
                  <a:ext uri="{0D108BD9-81ED-4DB2-BD59-A6C34878D82A}">
                    <a16:rowId xmlns:a16="http://schemas.microsoft.com/office/drawing/2014/main" val="661379824"/>
                  </a:ext>
                </a:extLst>
              </a:tr>
              <a:tr h="1147663">
                <a:tc>
                  <a:txBody>
                    <a:bodyPr/>
                    <a:lstStyle/>
                    <a:p>
                      <a:pPr>
                        <a:buNone/>
                      </a:pPr>
                      <a:r>
                        <a:rPr lang="en-US" dirty="0">
                          <a:latin typeface="Times New Roman" panose="02020603050405020304" pitchFamily="18" charset="0"/>
                          <a:cs typeface="Times New Roman" panose="02020603050405020304" pitchFamily="18" charset="0"/>
                        </a:rPr>
                        <a:t>Design and Implementation of Vedic Multiplier</a:t>
                      </a:r>
                    </a:p>
                  </a:txBody>
                  <a:tcPr anchor="ctr"/>
                </a:tc>
                <a:tc>
                  <a:txBody>
                    <a:bodyPr/>
                    <a:lstStyle/>
                    <a:p>
                      <a:pPr>
                        <a:buNone/>
                      </a:pPr>
                      <a:r>
                        <a:rPr lang="en-US" dirty="0">
                          <a:latin typeface="Times New Roman" panose="02020603050405020304" pitchFamily="18" charset="0"/>
                          <a:cs typeface="Times New Roman" panose="02020603050405020304" pitchFamily="18" charset="0"/>
                        </a:rPr>
                        <a:t>International Journal of Recent Technology and Engineering (IJRTE), 2020</a:t>
                      </a:r>
                    </a:p>
                  </a:txBody>
                  <a:tcPr anchor="ctr"/>
                </a:tc>
                <a:tc>
                  <a:txBody>
                    <a:bodyPr/>
                    <a:lstStyle/>
                    <a:p>
                      <a:pPr>
                        <a:buNone/>
                      </a:pPr>
                      <a:r>
                        <a:rPr lang="en-IN" dirty="0" err="1">
                          <a:latin typeface="Times New Roman" panose="02020603050405020304" pitchFamily="18" charset="0"/>
                          <a:cs typeface="Times New Roman" panose="02020603050405020304" pitchFamily="18" charset="0"/>
                        </a:rPr>
                        <a:t>Urdhva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Tiryagbhyam</a:t>
                      </a:r>
                      <a:r>
                        <a:rPr lang="en-IN" dirty="0">
                          <a:latin typeface="Times New Roman" panose="02020603050405020304" pitchFamily="18" charset="0"/>
                          <a:cs typeface="Times New Roman" panose="02020603050405020304" pitchFamily="18" charset="0"/>
                        </a:rPr>
                        <a:t> sutra, VHDL implementation, FPGA synthesis</a:t>
                      </a:r>
                    </a:p>
                  </a:txBody>
                  <a:tcPr anchor="ctr"/>
                </a:tc>
                <a:tc>
                  <a:txBody>
                    <a:bodyPr/>
                    <a:lstStyle/>
                    <a:p>
                      <a:pPr>
                        <a:buNone/>
                      </a:pPr>
                      <a:r>
                        <a:rPr lang="en-US">
                          <a:latin typeface="Times New Roman" panose="02020603050405020304" pitchFamily="18" charset="0"/>
                          <a:cs typeface="Times New Roman" panose="02020603050405020304" pitchFamily="18" charset="0"/>
                        </a:rPr>
                        <a:t>Reduced delay and faster computation</a:t>
                      </a:r>
                    </a:p>
                  </a:txBody>
                  <a:tcPr anchor="ctr"/>
                </a:tc>
                <a:tc>
                  <a:txBody>
                    <a:bodyPr/>
                    <a:lstStyle/>
                    <a:p>
                      <a:pPr>
                        <a:buNone/>
                      </a:pPr>
                      <a:r>
                        <a:rPr lang="en-US">
                          <a:latin typeface="Times New Roman" panose="02020603050405020304" pitchFamily="18" charset="0"/>
                          <a:cs typeface="Times New Roman" panose="02020603050405020304" pitchFamily="18" charset="0"/>
                        </a:rPr>
                        <a:t>Multiplier is not integrated with any standard bus protocol such as APB</a:t>
                      </a:r>
                    </a:p>
                  </a:txBody>
                  <a:tcPr anchor="ctr"/>
                </a:tc>
                <a:extLst>
                  <a:ext uri="{0D108BD9-81ED-4DB2-BD59-A6C34878D82A}">
                    <a16:rowId xmlns:a16="http://schemas.microsoft.com/office/drawing/2014/main" val="1244205820"/>
                  </a:ext>
                </a:extLst>
              </a:tr>
              <a:tr h="1358458">
                <a:tc>
                  <a:txBody>
                    <a:bodyPr/>
                    <a:lstStyle/>
                    <a:p>
                      <a:pPr>
                        <a:buNone/>
                      </a:pPr>
                      <a:r>
                        <a:rPr lang="en-US">
                          <a:latin typeface="Times New Roman" panose="02020603050405020304" pitchFamily="18" charset="0"/>
                          <a:cs typeface="Times New Roman" panose="02020603050405020304" pitchFamily="18" charset="0"/>
                        </a:rPr>
                        <a:t>64-bit Vedic Multiplier with Modified Architecture and Improved Performance</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International Journal of Advance Research, Ideas and Innovations in Technology (IJARIIT), 2021</a:t>
                      </a:r>
                    </a:p>
                  </a:txBody>
                  <a:tcPr anchor="ctr"/>
                </a:tc>
                <a:tc>
                  <a:txBody>
                    <a:bodyPr/>
                    <a:lstStyle/>
                    <a:p>
                      <a:pPr>
                        <a:buNone/>
                      </a:pPr>
                      <a:r>
                        <a:rPr lang="en-US" dirty="0">
                          <a:latin typeface="Times New Roman" panose="02020603050405020304" pitchFamily="18" charset="0"/>
                          <a:cs typeface="Times New Roman" panose="02020603050405020304" pitchFamily="18" charset="0"/>
                        </a:rPr>
                        <a:t>Modified Vedic architecture using Verilog, CSA and Carry Skip Adders</a:t>
                      </a:r>
                    </a:p>
                  </a:txBody>
                  <a:tcPr anchor="ctr"/>
                </a:tc>
                <a:tc>
                  <a:txBody>
                    <a:bodyPr/>
                    <a:lstStyle/>
                    <a:p>
                      <a:pPr>
                        <a:buNone/>
                      </a:pPr>
                      <a:r>
                        <a:rPr lang="en-US" dirty="0">
                          <a:latin typeface="Times New Roman" panose="02020603050405020304" pitchFamily="18" charset="0"/>
                          <a:cs typeface="Times New Roman" panose="02020603050405020304" pitchFamily="18" charset="0"/>
                        </a:rPr>
                        <a:t>High speed, reduced delay and power</a:t>
                      </a:r>
                    </a:p>
                  </a:txBody>
                  <a:tcPr anchor="ctr"/>
                </a:tc>
                <a:tc>
                  <a:txBody>
                    <a:bodyPr/>
                    <a:lstStyle/>
                    <a:p>
                      <a:pPr>
                        <a:buNone/>
                      </a:pPr>
                      <a:r>
                        <a:rPr lang="en-US">
                          <a:latin typeface="Times New Roman" panose="02020603050405020304" pitchFamily="18" charset="0"/>
                          <a:cs typeface="Times New Roman" panose="02020603050405020304" pitchFamily="18" charset="0"/>
                        </a:rPr>
                        <a:t>Lacks APB-based interfacing for SoC-level applications</a:t>
                      </a:r>
                    </a:p>
                  </a:txBody>
                  <a:tcPr anchor="ctr"/>
                </a:tc>
                <a:extLst>
                  <a:ext uri="{0D108BD9-81ED-4DB2-BD59-A6C34878D82A}">
                    <a16:rowId xmlns:a16="http://schemas.microsoft.com/office/drawing/2014/main" val="1154259597"/>
                  </a:ext>
                </a:extLst>
              </a:tr>
              <a:tr h="1358458">
                <a:tc>
                  <a:txBody>
                    <a:bodyPr/>
                    <a:lstStyle/>
                    <a:p>
                      <a:pPr>
                        <a:buNone/>
                      </a:pPr>
                      <a:r>
                        <a:rPr lang="en-US" dirty="0">
                          <a:latin typeface="Times New Roman" panose="02020603050405020304" pitchFamily="18" charset="0"/>
                          <a:cs typeface="Times New Roman" panose="02020603050405020304" pitchFamily="18" charset="0"/>
                        </a:rPr>
                        <a:t>Realization of Advanced Peripheral Bus (APB) Protocol using Verilog</a:t>
                      </a:r>
                    </a:p>
                  </a:txBody>
                  <a:tcPr anchor="ctr"/>
                </a:tc>
                <a:tc>
                  <a:txBody>
                    <a:bodyPr/>
                    <a:lstStyle/>
                    <a:p>
                      <a:pPr>
                        <a:buNone/>
                      </a:pPr>
                      <a:r>
                        <a:rPr lang="en-US" dirty="0">
                          <a:latin typeface="Times New Roman" panose="02020603050405020304" pitchFamily="18" charset="0"/>
                          <a:cs typeface="Times New Roman" panose="02020603050405020304" pitchFamily="18" charset="0"/>
                        </a:rPr>
                        <a:t>International Journal of Scientific Research in Engineering and Management (IJSREM), 2024</a:t>
                      </a:r>
                    </a:p>
                  </a:txBody>
                  <a:tcPr anchor="ctr"/>
                </a:tc>
                <a:tc>
                  <a:txBody>
                    <a:bodyPr/>
                    <a:lstStyle/>
                    <a:p>
                      <a:pPr>
                        <a:buNone/>
                      </a:pPr>
                      <a:r>
                        <a:rPr lang="en-US" dirty="0">
                          <a:latin typeface="Times New Roman" panose="02020603050405020304" pitchFamily="18" charset="0"/>
                          <a:cs typeface="Times New Roman" panose="02020603050405020304" pitchFamily="18" charset="0"/>
                        </a:rPr>
                        <a:t>Verilog HDL implementation of APB read/write operations</a:t>
                      </a:r>
                    </a:p>
                  </a:txBody>
                  <a:tcPr anchor="ctr"/>
                </a:tc>
                <a:tc>
                  <a:txBody>
                    <a:bodyPr/>
                    <a:lstStyle/>
                    <a:p>
                      <a:pPr>
                        <a:buNone/>
                      </a:pPr>
                      <a:r>
                        <a:rPr lang="fr-FR" dirty="0">
                          <a:latin typeface="Times New Roman" panose="02020603050405020304" pitchFamily="18" charset="0"/>
                          <a:cs typeface="Times New Roman" panose="02020603050405020304" pitchFamily="18" charset="0"/>
                        </a:rPr>
                        <a:t>Scalable design, efficient </a:t>
                      </a:r>
                      <a:r>
                        <a:rPr lang="fr-FR" dirty="0" err="1">
                          <a:latin typeface="Times New Roman" panose="02020603050405020304" pitchFamily="18" charset="0"/>
                          <a:cs typeface="Times New Roman" panose="02020603050405020304" pitchFamily="18" charset="0"/>
                        </a:rPr>
                        <a:t>peripheral</a:t>
                      </a:r>
                      <a:r>
                        <a:rPr lang="fr-FR" dirty="0">
                          <a:latin typeface="Times New Roman" panose="02020603050405020304" pitchFamily="18" charset="0"/>
                          <a:cs typeface="Times New Roman" panose="02020603050405020304" pitchFamily="18" charset="0"/>
                        </a:rPr>
                        <a:t> communication</a:t>
                      </a:r>
                    </a:p>
                  </a:txBody>
                  <a:tcPr anchor="ctr"/>
                </a:tc>
                <a:tc>
                  <a:txBody>
                    <a:bodyPr/>
                    <a:lstStyle/>
                    <a:p>
                      <a:pPr>
                        <a:buNone/>
                      </a:pPr>
                      <a:r>
                        <a:rPr lang="en-US" dirty="0">
                          <a:latin typeface="Times New Roman" panose="02020603050405020304" pitchFamily="18" charset="0"/>
                          <a:cs typeface="Times New Roman" panose="02020603050405020304" pitchFamily="18" charset="0"/>
                        </a:rPr>
                        <a:t>Does not integrate APB with Vedic arithmetic units for computation</a:t>
                      </a:r>
                    </a:p>
                  </a:txBody>
                  <a:tcPr anchor="ctr"/>
                </a:tc>
                <a:extLst>
                  <a:ext uri="{0D108BD9-81ED-4DB2-BD59-A6C34878D82A}">
                    <a16:rowId xmlns:a16="http://schemas.microsoft.com/office/drawing/2014/main" val="441499335"/>
                  </a:ext>
                </a:extLst>
              </a:tr>
            </a:tbl>
          </a:graphicData>
        </a:graphic>
      </p:graphicFrame>
    </p:spTree>
    <p:extLst>
      <p:ext uri="{BB962C8B-B14F-4D97-AF65-F5344CB8AC3E}">
        <p14:creationId xmlns:p14="http://schemas.microsoft.com/office/powerpoint/2010/main" val="2053277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a:p>
            <a:endParaRPr lang="en-US" dirty="0"/>
          </a:p>
        </p:txBody>
      </p:sp>
      <p:sp>
        <p:nvSpPr>
          <p:cNvPr id="5" name="Footer Placeholder 4"/>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p:cNvSpPr>
            <a:spLocks noGrp="1"/>
          </p:cNvSpPr>
          <p:nvPr>
            <p:ph type="sldNum" sz="quarter" idx="12"/>
          </p:nvPr>
        </p:nvSpPr>
        <p:spPr/>
        <p:txBody>
          <a:bodyPr/>
          <a:lstStyle/>
          <a:p>
            <a:fld id="{B6F15528-21DE-4FAA-801E-634DDDAF4B2B}" type="slidenum">
              <a:rPr lang="en-US" smtClean="0"/>
              <a:t>7</a:t>
            </a:fld>
            <a:endParaRPr lang="en-US"/>
          </a:p>
        </p:txBody>
      </p:sp>
      <p:sp>
        <p:nvSpPr>
          <p:cNvPr id="7" name="Title 1"/>
          <p:cNvSpPr>
            <a:spLocks noGrp="1"/>
          </p:cNvSpPr>
          <p:nvPr>
            <p:ph type="title"/>
          </p:nvPr>
        </p:nvSpPr>
        <p:spPr>
          <a:xfrm>
            <a:off x="644066" y="677533"/>
            <a:ext cx="7886700" cy="687609"/>
          </a:xfrm>
        </p:spPr>
        <p:txBody>
          <a:bodyPr>
            <a:noAutofit/>
          </a:bodyPr>
          <a:lstStyle/>
          <a:p>
            <a:pPr algn="ctr"/>
            <a:r>
              <a:rPr lang="en-US" altLang="en-GB" sz="3200" b="1" dirty="0">
                <a:latin typeface="Times New Roman" panose="02020603050405020304" pitchFamily="18" charset="0"/>
                <a:cs typeface="Times New Roman" panose="02020603050405020304" pitchFamily="18" charset="0"/>
              </a:rPr>
              <a:t>EXISITING METHODOLOGY</a:t>
            </a:r>
          </a:p>
        </p:txBody>
      </p:sp>
      <p:sp>
        <p:nvSpPr>
          <p:cNvPr id="8" name="TextBox 7"/>
          <p:cNvSpPr txBox="1"/>
          <p:nvPr/>
        </p:nvSpPr>
        <p:spPr>
          <a:xfrm>
            <a:off x="770992" y="1556792"/>
            <a:ext cx="7632848" cy="41996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APB-Based Peripheral Design: </a:t>
            </a:r>
            <a:r>
              <a:rPr lang="en-IN" sz="2000" dirty="0">
                <a:latin typeface="Times New Roman" panose="02020603050405020304" pitchFamily="18" charset="0"/>
                <a:cs typeface="Times New Roman" panose="02020603050405020304" pitchFamily="18" charset="0"/>
              </a:rPr>
              <a:t>Arithmetic blocks are implemented as APB slave peripherals to enable processor-controlled access.</a:t>
            </a: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Register-Based Communication: </a:t>
            </a:r>
            <a:r>
              <a:rPr lang="en-IN" sz="2000" dirty="0">
                <a:latin typeface="Times New Roman" panose="02020603050405020304" pitchFamily="18" charset="0"/>
                <a:cs typeface="Times New Roman" panose="02020603050405020304" pitchFamily="18" charset="0"/>
              </a:rPr>
              <a:t>Read/write transactions are used to transfer operand inputs and result outputs via APB registers.</a:t>
            </a: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Simple Control Mechanism</a:t>
            </a:r>
            <a:r>
              <a:rPr lang="en-IN" sz="2000" dirty="0">
                <a:latin typeface="Times New Roman" panose="02020603050405020304" pitchFamily="18" charset="0"/>
                <a:cs typeface="Times New Roman" panose="02020603050405020304" pitchFamily="18" charset="0"/>
              </a:rPr>
              <a:t>: APB offers a non-pipelined, low-power interface that can be used to control arithmetic IPs.</a:t>
            </a: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Standalone</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Vedic Multiplier Design: </a:t>
            </a:r>
            <a:r>
              <a:rPr lang="en-IN" sz="2000" dirty="0">
                <a:latin typeface="Times New Roman" panose="02020603050405020304" pitchFamily="18" charset="0"/>
                <a:cs typeface="Times New Roman" panose="02020603050405020304" pitchFamily="18" charset="0"/>
              </a:rPr>
              <a:t>For fast arithmetic operations, the </a:t>
            </a:r>
            <a:r>
              <a:rPr lang="en-IN" sz="2000" dirty="0" err="1">
                <a:latin typeface="Times New Roman" panose="02020603050405020304" pitchFamily="18" charset="0"/>
                <a:cs typeface="Times New Roman" panose="02020603050405020304" pitchFamily="18" charset="0"/>
              </a:rPr>
              <a:t>Urdhva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Tiryagbhyam</a:t>
            </a:r>
            <a:r>
              <a:rPr lang="en-IN" sz="2000" dirty="0">
                <a:latin typeface="Times New Roman" panose="02020603050405020304" pitchFamily="18" charset="0"/>
                <a:cs typeface="Times New Roman" panose="02020603050405020304" pitchFamily="18" charset="0"/>
              </a:rPr>
              <a:t> algorithm in Verilog is frequently used to implement Vedic multipliers.</a:t>
            </a:r>
            <a:endParaRPr lang="en-US" altLang="en-GB"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25F86-4531-AA5B-7BF0-1FFD7FFB7FD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D5B752A-833C-4B9D-D56B-2EA03F207E6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6BA3AA9B-7BAE-41CF-7C25-4653EC6E7914}"/>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C6AA5D04-29ED-892F-F018-DBB844B98024}"/>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8</a:t>
            </a:fld>
            <a:endParaRPr lang="en-US"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A37850E8-6DBC-EF4A-0769-A1E9446535DF}"/>
              </a:ext>
            </a:extLst>
          </p:cNvPr>
          <p:cNvSpPr>
            <a:spLocks noGrp="1"/>
          </p:cNvSpPr>
          <p:nvPr>
            <p:ph type="title"/>
          </p:nvPr>
        </p:nvSpPr>
        <p:spPr>
          <a:xfrm>
            <a:off x="614818" y="343806"/>
            <a:ext cx="7886700" cy="687609"/>
          </a:xfrm>
        </p:spPr>
        <p:txBody>
          <a:bodyPr>
            <a:normAutofit/>
          </a:bodyPr>
          <a:lstStyle/>
          <a:p>
            <a:pPr algn="ctr"/>
            <a:r>
              <a:rPr lang="en-IN" sz="3200" b="1" dirty="0">
                <a:latin typeface="Times New Roman" panose="02020603050405020304" pitchFamily="18" charset="0"/>
                <a:cs typeface="Times New Roman" pitchFamily="18" charset="0"/>
              </a:rPr>
              <a:t>PROPOSED METHODOLOGY</a:t>
            </a:r>
            <a:endParaRPr lang="en-US" sz="3200" b="1" dirty="0"/>
          </a:p>
        </p:txBody>
      </p:sp>
      <p:sp>
        <p:nvSpPr>
          <p:cNvPr id="2" name="Rectangle 1">
            <a:extLst>
              <a:ext uri="{FF2B5EF4-FFF2-40B4-BE49-F238E27FC236}">
                <a16:creationId xmlns:a16="http://schemas.microsoft.com/office/drawing/2014/main" id="{1CC4E8A0-C5EB-CD1A-1D16-43A509D68F94}"/>
              </a:ext>
            </a:extLst>
          </p:cNvPr>
          <p:cNvSpPr>
            <a:spLocks noChangeArrowheads="1"/>
          </p:cNvSpPr>
          <p:nvPr/>
        </p:nvSpPr>
        <p:spPr bwMode="auto">
          <a:xfrm>
            <a:off x="656109" y="971856"/>
            <a:ext cx="7831782" cy="544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b="1" dirty="0">
                <a:latin typeface="Times New Roman" panose="02020603050405020304" pitchFamily="18" charset="0"/>
                <a:cs typeface="Times New Roman" panose="02020603050405020304" pitchFamily="18" charset="0"/>
              </a:rPr>
              <a:t>APB Master:</a:t>
            </a:r>
          </a:p>
          <a:p>
            <a:pPr>
              <a:lnSpc>
                <a:spcPct val="150000"/>
              </a:lnSpc>
            </a:pPr>
            <a:r>
              <a:rPr lang="en-US" dirty="0">
                <a:latin typeface="Times New Roman" panose="02020603050405020304" pitchFamily="18" charset="0"/>
                <a:cs typeface="Times New Roman" panose="02020603050405020304" pitchFamily="18" charset="0"/>
              </a:rPr>
              <a:t>The APB Master initiates all read and write operations. It provides clock and active-low reset. The master sends address, control, and data signals to the APB slave. It controls the timing of data transfer using PSEL and PENABLE.</a:t>
            </a:r>
          </a:p>
          <a:p>
            <a:pPr>
              <a:lnSpc>
                <a:spcPct val="150000"/>
              </a:lnSpc>
            </a:pPr>
            <a:r>
              <a:rPr lang="en-US" b="1" dirty="0">
                <a:latin typeface="Times New Roman" panose="02020603050405020304" pitchFamily="18" charset="0"/>
                <a:cs typeface="Times New Roman" panose="02020603050405020304" pitchFamily="18" charset="0"/>
              </a:rPr>
              <a:t>APB Slave:</a:t>
            </a:r>
          </a:p>
          <a:p>
            <a:pPr>
              <a:lnSpc>
                <a:spcPct val="150000"/>
              </a:lnSpc>
            </a:pPr>
            <a:r>
              <a:rPr lang="en-US" dirty="0">
                <a:latin typeface="Times New Roman" panose="02020603050405020304" pitchFamily="18" charset="0"/>
                <a:cs typeface="Times New Roman" panose="02020603050405020304" pitchFamily="18" charset="0"/>
              </a:rPr>
              <a:t>The APB Slave receives commands from the APB Master. It decodes the address to select internal registers. The slave acts as an interface between the APB bus and the Vedic Multiplier. It stores input operands and provides multiplication results.</a:t>
            </a:r>
          </a:p>
          <a:p>
            <a:pPr>
              <a:lnSpc>
                <a:spcPct val="150000"/>
              </a:lnSpc>
            </a:pPr>
            <a:r>
              <a:rPr lang="en-US" b="1" dirty="0">
                <a:latin typeface="Times New Roman" panose="02020603050405020304" pitchFamily="18" charset="0"/>
                <a:cs typeface="Times New Roman" panose="02020603050405020304" pitchFamily="18" charset="0"/>
              </a:rPr>
              <a:t>Vedic Multiplier:</a:t>
            </a:r>
          </a:p>
          <a:p>
            <a:pPr>
              <a:lnSpc>
                <a:spcPct val="150000"/>
              </a:lnSpc>
            </a:pPr>
            <a:r>
              <a:rPr lang="en-US" dirty="0">
                <a:latin typeface="Times New Roman" panose="02020603050405020304" pitchFamily="18" charset="0"/>
                <a:cs typeface="Times New Roman" panose="02020603050405020304" pitchFamily="18" charset="0"/>
              </a:rPr>
              <a:t>The Vedic Multiplier performs fast multiplication using </a:t>
            </a:r>
            <a:r>
              <a:rPr lang="en-US" dirty="0" err="1">
                <a:latin typeface="Times New Roman" panose="02020603050405020304" pitchFamily="18" charset="0"/>
                <a:cs typeface="Times New Roman" panose="02020603050405020304" pitchFamily="18" charset="0"/>
              </a:rPr>
              <a:t>Urdhva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Tiryagbhyam</a:t>
            </a:r>
            <a:r>
              <a:rPr lang="en-US" dirty="0">
                <a:latin typeface="Times New Roman" panose="02020603050405020304" pitchFamily="18" charset="0"/>
                <a:cs typeface="Times New Roman" panose="02020603050405020304" pitchFamily="18" charset="0"/>
              </a:rPr>
              <a:t> algorithm. It receives two operands from the APB slave registers. The computed product is sent back to the APB slave for read operation. This architecture improves speed and reduces delay.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0215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EDE66-1941-02EA-8681-40A6450361E3}"/>
              </a:ext>
            </a:extLst>
          </p:cNvPr>
          <p:cNvSpPr>
            <a:spLocks noGrp="1"/>
          </p:cNvSpPr>
          <p:nvPr>
            <p:ph type="title"/>
          </p:nvPr>
        </p:nvSpPr>
        <p:spPr/>
        <p:txBody>
          <a:bodyPr/>
          <a:lstStyle/>
          <a:p>
            <a:pPr algn="ctr"/>
            <a:r>
              <a:rPr lang="en-US" dirty="0">
                <a:latin typeface="Times  new roman"/>
              </a:rPr>
              <a:t> </a:t>
            </a:r>
            <a:r>
              <a:rPr lang="en-US" sz="3200" b="1" dirty="0">
                <a:latin typeface="Times New Roman" panose="02020603050405020304" pitchFamily="18" charset="0"/>
                <a:cs typeface="Times New Roman" panose="02020603050405020304" pitchFamily="18" charset="0"/>
              </a:rPr>
              <a:t>MECHANISM OF THE VEDIC                        MULTIPLICATION</a:t>
            </a:r>
            <a:endParaRPr lang="en-IN" sz="32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6186CB4-7BE3-074F-C121-5D7956A4EAA7}"/>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43B425E5-187D-047F-9008-C35431E4DD78}"/>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FE9ACF4D-2FCB-CABF-AA66-15584CAB1176}"/>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4098" name="Picture 801">
            <a:extLst>
              <a:ext uri="{FF2B5EF4-FFF2-40B4-BE49-F238E27FC236}">
                <a16:creationId xmlns:a16="http://schemas.microsoft.com/office/drawing/2014/main" id="{A1F67499-6880-3065-1761-613BE7A5EA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690689"/>
            <a:ext cx="7200800" cy="440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2966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D13F7-C523-4ACE-48EA-273ACC8FB3AC}"/>
              </a:ext>
            </a:extLst>
          </p:cNvPr>
          <p:cNvSpPr>
            <a:spLocks noGrp="1"/>
          </p:cNvSpPr>
          <p:nvPr>
            <p:ph idx="1"/>
          </p:nvPr>
        </p:nvSpPr>
        <p:spPr>
          <a:xfrm>
            <a:off x="628650" y="1124744"/>
            <a:ext cx="7886700" cy="4536504"/>
          </a:xfrm>
        </p:spPr>
        <p:txBody>
          <a:bodyPr>
            <a:normAutofit lnSpcReduction="10000"/>
          </a:bodyPr>
          <a:lstStyle/>
          <a:p>
            <a:pPr lvl="0" algn="just" eaLnBrk="0" fontAlgn="base" hangingPunct="0">
              <a:lnSpc>
                <a:spcPct val="160000"/>
              </a:lnSpc>
              <a:spcBef>
                <a:spcPct val="0"/>
              </a:spcBef>
              <a:spcAft>
                <a:spcPct val="0"/>
              </a:spcAf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The </a:t>
            </a:r>
            <a:r>
              <a:rPr lang="en-US" sz="1900" dirty="0" err="1">
                <a:latin typeface="Times New Roman" panose="02020603050405020304" pitchFamily="18" charset="0"/>
                <a:cs typeface="Times New Roman" panose="02020603050405020304" pitchFamily="18" charset="0"/>
              </a:rPr>
              <a:t>Urdhva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Tiryagbhyam</a:t>
            </a:r>
            <a:r>
              <a:rPr lang="en-US" sz="1900" dirty="0">
                <a:latin typeface="Times New Roman" panose="02020603050405020304" pitchFamily="18" charset="0"/>
                <a:cs typeface="Times New Roman" panose="02020603050405020304" pitchFamily="18" charset="0"/>
              </a:rPr>
              <a:t> (Vertical and Crosswise) multiplication algorithm is depicted in the diagram. </a:t>
            </a:r>
          </a:p>
          <a:p>
            <a:pPr lvl="0" algn="just" eaLnBrk="0" fontAlgn="base" hangingPunct="0">
              <a:lnSpc>
                <a:spcPct val="160000"/>
              </a:lnSpc>
              <a:spcBef>
                <a:spcPct val="0"/>
              </a:spcBef>
              <a:spcAft>
                <a:spcPct val="0"/>
              </a:spcAf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At each stage, vertical and crosswise bit combinations are used to multiply the inputs (X_3!-!X_0) and (Y_3!-!Y_0).</a:t>
            </a:r>
          </a:p>
          <a:p>
            <a:pPr lvl="0" algn="just" eaLnBrk="0" fontAlgn="base" hangingPunct="0">
              <a:lnSpc>
                <a:spcPct val="160000"/>
              </a:lnSpc>
              <a:spcBef>
                <a:spcPct val="0"/>
              </a:spcBef>
              <a:spcAft>
                <a:spcPct val="0"/>
              </a:spcAf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Along with carry propagation, partial products are produced in parallel and summed. </a:t>
            </a:r>
          </a:p>
          <a:p>
            <a:pPr lvl="0" algn="just" eaLnBrk="0" fontAlgn="base" hangingPunct="0">
              <a:lnSpc>
                <a:spcPct val="160000"/>
              </a:lnSpc>
              <a:spcBef>
                <a:spcPct val="0"/>
              </a:spcBef>
              <a:spcAft>
                <a:spcPct val="0"/>
              </a:spcAf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This approach reduces multiplication delay and improves speed and efficiency .</a:t>
            </a:r>
          </a:p>
          <a:p>
            <a:pPr lvl="0" algn="just" eaLnBrk="0" fontAlgn="base" hangingPunct="0">
              <a:lnSpc>
                <a:spcPct val="150000"/>
              </a:lnSpc>
              <a:spcBef>
                <a:spcPct val="0"/>
              </a:spcBef>
              <a:spcAft>
                <a:spcPct val="0"/>
              </a:spcAf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The algorithm is efficiently modeled using Verilog HDL, enabling easy simulation, verification, and future integration with the APB interface.</a:t>
            </a:r>
            <a:endParaRPr lang="en-US" altLang="en-GB" sz="19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IN" dirty="0"/>
          </a:p>
        </p:txBody>
      </p:sp>
      <p:sp>
        <p:nvSpPr>
          <p:cNvPr id="4" name="Date Placeholder 3">
            <a:extLst>
              <a:ext uri="{FF2B5EF4-FFF2-40B4-BE49-F238E27FC236}">
                <a16:creationId xmlns:a16="http://schemas.microsoft.com/office/drawing/2014/main" id="{91D711D8-BC5D-A001-D363-43BE443B2F8C}"/>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47A417B3-672A-4492-A52A-EE7B56ACC4FE}"/>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DCB7AED3-D1FA-A3BB-44FC-6A169904A13E}"/>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706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A91AF-4658-072C-842A-3459A5ABDB3A}"/>
              </a:ext>
            </a:extLst>
          </p:cNvPr>
          <p:cNvSpPr>
            <a:spLocks noGrp="1"/>
          </p:cNvSpPr>
          <p:nvPr>
            <p:ph type="title"/>
          </p:nvPr>
        </p:nvSpPr>
        <p:spPr>
          <a:xfrm>
            <a:off x="628650" y="365126"/>
            <a:ext cx="7886700" cy="315911"/>
          </a:xfrm>
        </p:spPr>
        <p:txBody>
          <a:bodyPr>
            <a:noAutofit/>
          </a:bodyPr>
          <a:lstStyle/>
          <a:p>
            <a:pPr algn="ctr"/>
            <a:r>
              <a:rPr lang="en-IN" sz="2400" b="1" dirty="0">
                <a:latin typeface="Times New Roman" panose="02020603050405020304" pitchFamily="18" charset="0"/>
                <a:cs typeface="Times New Roman" panose="02020603050405020304" pitchFamily="18" charset="0"/>
              </a:rPr>
              <a:t>EXAMPLE OF VEDIC MULTIPLICATION</a:t>
            </a:r>
          </a:p>
        </p:txBody>
      </p:sp>
      <p:sp>
        <p:nvSpPr>
          <p:cNvPr id="4" name="Date Placeholder 3">
            <a:extLst>
              <a:ext uri="{FF2B5EF4-FFF2-40B4-BE49-F238E27FC236}">
                <a16:creationId xmlns:a16="http://schemas.microsoft.com/office/drawing/2014/main" id="{7F8D285A-F742-90AC-E825-3E4ED7114D51}"/>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9E45D495-0883-7B44-9652-0ADE8383C4E9}"/>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F237094A-FA0F-B8AB-AD48-6234CC365FDA}"/>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121" name="Rounded Rectangle 5">
            <a:extLst>
              <a:ext uri="{FF2B5EF4-FFF2-40B4-BE49-F238E27FC236}">
                <a16:creationId xmlns:a16="http://schemas.microsoft.com/office/drawing/2014/main" id="{BE3D8C1B-BC1B-39F5-DC8B-FA31D1B6E795}"/>
              </a:ext>
            </a:extLst>
          </p:cNvPr>
          <p:cNvSpPr/>
          <p:nvPr/>
        </p:nvSpPr>
        <p:spPr>
          <a:xfrm>
            <a:off x="262773" y="998651"/>
            <a:ext cx="1746316" cy="145644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IN" sz="1350" dirty="0"/>
          </a:p>
        </p:txBody>
      </p:sp>
      <p:cxnSp>
        <p:nvCxnSpPr>
          <p:cNvPr id="122" name="Straight Connector 121">
            <a:extLst>
              <a:ext uri="{FF2B5EF4-FFF2-40B4-BE49-F238E27FC236}">
                <a16:creationId xmlns:a16="http://schemas.microsoft.com/office/drawing/2014/main" id="{D86750A2-30AF-4555-3BE2-C8BFA187D410}"/>
              </a:ext>
            </a:extLst>
          </p:cNvPr>
          <p:cNvCxnSpPr/>
          <p:nvPr/>
        </p:nvCxnSpPr>
        <p:spPr>
          <a:xfrm flipV="1">
            <a:off x="262773" y="2151079"/>
            <a:ext cx="1746316" cy="7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Rounded Rectangle 16">
            <a:extLst>
              <a:ext uri="{FF2B5EF4-FFF2-40B4-BE49-F238E27FC236}">
                <a16:creationId xmlns:a16="http://schemas.microsoft.com/office/drawing/2014/main" id="{F775C93D-FEEA-E5F2-7D61-125F9E257FBB}"/>
              </a:ext>
            </a:extLst>
          </p:cNvPr>
          <p:cNvSpPr/>
          <p:nvPr/>
        </p:nvSpPr>
        <p:spPr>
          <a:xfrm>
            <a:off x="3207471" y="998651"/>
            <a:ext cx="1746316" cy="145644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a:p>
        </p:txBody>
      </p:sp>
      <p:cxnSp>
        <p:nvCxnSpPr>
          <p:cNvPr id="124" name="Straight Connector 123">
            <a:extLst>
              <a:ext uri="{FF2B5EF4-FFF2-40B4-BE49-F238E27FC236}">
                <a16:creationId xmlns:a16="http://schemas.microsoft.com/office/drawing/2014/main" id="{D4B8EA07-6CA7-C36A-A681-B42FB57BFBA8}"/>
              </a:ext>
            </a:extLst>
          </p:cNvPr>
          <p:cNvCxnSpPr/>
          <p:nvPr/>
        </p:nvCxnSpPr>
        <p:spPr>
          <a:xfrm flipV="1">
            <a:off x="3207470" y="2144010"/>
            <a:ext cx="1746316" cy="7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Rounded Rectangle 20">
            <a:extLst>
              <a:ext uri="{FF2B5EF4-FFF2-40B4-BE49-F238E27FC236}">
                <a16:creationId xmlns:a16="http://schemas.microsoft.com/office/drawing/2014/main" id="{A26C334C-243F-DCDB-BD66-0F5EA08F7F3D}"/>
              </a:ext>
            </a:extLst>
          </p:cNvPr>
          <p:cNvSpPr/>
          <p:nvPr/>
        </p:nvSpPr>
        <p:spPr>
          <a:xfrm>
            <a:off x="6152169" y="995344"/>
            <a:ext cx="1746316" cy="145644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a:p>
        </p:txBody>
      </p:sp>
      <p:cxnSp>
        <p:nvCxnSpPr>
          <p:cNvPr id="126" name="Straight Connector 125">
            <a:extLst>
              <a:ext uri="{FF2B5EF4-FFF2-40B4-BE49-F238E27FC236}">
                <a16:creationId xmlns:a16="http://schemas.microsoft.com/office/drawing/2014/main" id="{567DC15A-5406-0E7F-0E02-BFAFA1BB299B}"/>
              </a:ext>
            </a:extLst>
          </p:cNvPr>
          <p:cNvCxnSpPr/>
          <p:nvPr/>
        </p:nvCxnSpPr>
        <p:spPr>
          <a:xfrm flipV="1">
            <a:off x="6152169" y="2127738"/>
            <a:ext cx="1746316" cy="7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Rounded Rectangle 22">
            <a:extLst>
              <a:ext uri="{FF2B5EF4-FFF2-40B4-BE49-F238E27FC236}">
                <a16:creationId xmlns:a16="http://schemas.microsoft.com/office/drawing/2014/main" id="{B4F98E37-1F27-95B4-7FF9-C74F462BD50D}"/>
              </a:ext>
            </a:extLst>
          </p:cNvPr>
          <p:cNvSpPr/>
          <p:nvPr/>
        </p:nvSpPr>
        <p:spPr>
          <a:xfrm>
            <a:off x="262773" y="2741015"/>
            <a:ext cx="1746316" cy="145644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a:p>
        </p:txBody>
      </p:sp>
      <p:cxnSp>
        <p:nvCxnSpPr>
          <p:cNvPr id="128" name="Straight Connector 127">
            <a:extLst>
              <a:ext uri="{FF2B5EF4-FFF2-40B4-BE49-F238E27FC236}">
                <a16:creationId xmlns:a16="http://schemas.microsoft.com/office/drawing/2014/main" id="{81222452-B073-74B2-4C69-E98E61ECB4AE}"/>
              </a:ext>
            </a:extLst>
          </p:cNvPr>
          <p:cNvCxnSpPr/>
          <p:nvPr/>
        </p:nvCxnSpPr>
        <p:spPr>
          <a:xfrm flipV="1">
            <a:off x="262772" y="3902868"/>
            <a:ext cx="1746316" cy="7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Rounded Rectangle 24">
            <a:extLst>
              <a:ext uri="{FF2B5EF4-FFF2-40B4-BE49-F238E27FC236}">
                <a16:creationId xmlns:a16="http://schemas.microsoft.com/office/drawing/2014/main" id="{2D1E9B79-24F5-6BBC-3E21-CBCB7B5F7532}"/>
              </a:ext>
            </a:extLst>
          </p:cNvPr>
          <p:cNvSpPr/>
          <p:nvPr/>
        </p:nvSpPr>
        <p:spPr>
          <a:xfrm>
            <a:off x="3207468" y="2742991"/>
            <a:ext cx="1746316" cy="145644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a:p>
        </p:txBody>
      </p:sp>
      <p:cxnSp>
        <p:nvCxnSpPr>
          <p:cNvPr id="130" name="Straight Connector 129">
            <a:extLst>
              <a:ext uri="{FF2B5EF4-FFF2-40B4-BE49-F238E27FC236}">
                <a16:creationId xmlns:a16="http://schemas.microsoft.com/office/drawing/2014/main" id="{894D032A-2359-4712-0D3B-1F06668690D0}"/>
              </a:ext>
            </a:extLst>
          </p:cNvPr>
          <p:cNvCxnSpPr/>
          <p:nvPr/>
        </p:nvCxnSpPr>
        <p:spPr>
          <a:xfrm flipV="1">
            <a:off x="3207468" y="3895420"/>
            <a:ext cx="1746316" cy="7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1" name="Rounded Rectangle 26">
            <a:extLst>
              <a:ext uri="{FF2B5EF4-FFF2-40B4-BE49-F238E27FC236}">
                <a16:creationId xmlns:a16="http://schemas.microsoft.com/office/drawing/2014/main" id="{FD6D5B40-5C14-B525-265A-12A9650D65D5}"/>
              </a:ext>
            </a:extLst>
          </p:cNvPr>
          <p:cNvSpPr/>
          <p:nvPr/>
        </p:nvSpPr>
        <p:spPr>
          <a:xfrm>
            <a:off x="3207468" y="4510137"/>
            <a:ext cx="1746316" cy="145644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a:p>
        </p:txBody>
      </p:sp>
      <p:cxnSp>
        <p:nvCxnSpPr>
          <p:cNvPr id="132" name="Straight Connector 131">
            <a:extLst>
              <a:ext uri="{FF2B5EF4-FFF2-40B4-BE49-F238E27FC236}">
                <a16:creationId xmlns:a16="http://schemas.microsoft.com/office/drawing/2014/main" id="{385E009C-3E16-5EA3-A8C9-46669F245A0F}"/>
              </a:ext>
            </a:extLst>
          </p:cNvPr>
          <p:cNvCxnSpPr/>
          <p:nvPr/>
        </p:nvCxnSpPr>
        <p:spPr>
          <a:xfrm flipV="1">
            <a:off x="3207468" y="5662565"/>
            <a:ext cx="1746316" cy="7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910E7811-A810-FD8E-5BA8-8E0F1D2B8E1B}"/>
              </a:ext>
            </a:extLst>
          </p:cNvPr>
          <p:cNvSpPr txBox="1"/>
          <p:nvPr/>
        </p:nvSpPr>
        <p:spPr>
          <a:xfrm flipH="1">
            <a:off x="319418" y="989440"/>
            <a:ext cx="1225489" cy="300082"/>
          </a:xfrm>
          <a:prstGeom prst="rect">
            <a:avLst/>
          </a:prstGeom>
          <a:noFill/>
        </p:spPr>
        <p:txBody>
          <a:bodyPr wrap="square" rtlCol="0">
            <a:spAutoFit/>
          </a:bodyPr>
          <a:lstStyle/>
          <a:p>
            <a:r>
              <a:rPr lang="en-US" sz="1350" dirty="0"/>
              <a:t>Step 1</a:t>
            </a:r>
            <a:endParaRPr lang="en-IN" sz="1350" dirty="0"/>
          </a:p>
        </p:txBody>
      </p:sp>
      <p:sp>
        <p:nvSpPr>
          <p:cNvPr id="134" name="TextBox 133">
            <a:extLst>
              <a:ext uri="{FF2B5EF4-FFF2-40B4-BE49-F238E27FC236}">
                <a16:creationId xmlns:a16="http://schemas.microsoft.com/office/drawing/2014/main" id="{B4234FED-6168-9375-8547-079B5F769C7C}"/>
              </a:ext>
            </a:extLst>
          </p:cNvPr>
          <p:cNvSpPr txBox="1"/>
          <p:nvPr/>
        </p:nvSpPr>
        <p:spPr>
          <a:xfrm rot="10800000" flipH="1" flipV="1">
            <a:off x="398987" y="1196365"/>
            <a:ext cx="1488729" cy="923330"/>
          </a:xfrm>
          <a:prstGeom prst="rect">
            <a:avLst/>
          </a:prstGeom>
          <a:noFill/>
        </p:spPr>
        <p:txBody>
          <a:bodyPr wrap="square" rtlCol="0">
            <a:spAutoFit/>
          </a:bodyPr>
          <a:lstStyle/>
          <a:p>
            <a:pPr marL="257175" indent="-257175" algn="just">
              <a:buAutoNum type="arabicPlain" startAt="5"/>
            </a:pPr>
            <a:r>
              <a:rPr lang="en-US" sz="1350" dirty="0"/>
              <a:t>  3         1         2</a:t>
            </a:r>
          </a:p>
          <a:p>
            <a:pPr marL="257175" indent="-257175" algn="just">
              <a:buAutoNum type="arabicPlain" startAt="5"/>
            </a:pPr>
            <a:endParaRPr lang="en-US" sz="1350" dirty="0"/>
          </a:p>
          <a:p>
            <a:pPr marL="257175" indent="-257175" algn="just">
              <a:buAutoNum type="arabicPlain" startAt="5"/>
            </a:pPr>
            <a:endParaRPr lang="en-US" sz="1350" dirty="0"/>
          </a:p>
          <a:p>
            <a:pPr algn="just"/>
            <a:r>
              <a:rPr lang="en-US" sz="1350" dirty="0"/>
              <a:t>3       4         6         8</a:t>
            </a:r>
            <a:endParaRPr lang="en-IN" sz="1350" dirty="0"/>
          </a:p>
        </p:txBody>
      </p:sp>
      <p:sp>
        <p:nvSpPr>
          <p:cNvPr id="135" name="TextBox 134">
            <a:extLst>
              <a:ext uri="{FF2B5EF4-FFF2-40B4-BE49-F238E27FC236}">
                <a16:creationId xmlns:a16="http://schemas.microsoft.com/office/drawing/2014/main" id="{B1F4E7B4-6EDB-AF82-5EAE-B6D67CA68F03}"/>
              </a:ext>
            </a:extLst>
          </p:cNvPr>
          <p:cNvSpPr txBox="1"/>
          <p:nvPr/>
        </p:nvSpPr>
        <p:spPr>
          <a:xfrm rot="10800000" flipH="1" flipV="1">
            <a:off x="3319884" y="1170168"/>
            <a:ext cx="1488729" cy="923330"/>
          </a:xfrm>
          <a:prstGeom prst="rect">
            <a:avLst/>
          </a:prstGeom>
          <a:noFill/>
        </p:spPr>
        <p:txBody>
          <a:bodyPr wrap="square" rtlCol="0">
            <a:spAutoFit/>
          </a:bodyPr>
          <a:lstStyle/>
          <a:p>
            <a:pPr marL="257175" indent="-257175" algn="just">
              <a:buAutoNum type="arabicPlain" startAt="5"/>
            </a:pPr>
            <a:r>
              <a:rPr lang="en-US" sz="1350" dirty="0"/>
              <a:t>  3         1         2</a:t>
            </a:r>
          </a:p>
          <a:p>
            <a:pPr marL="257175" indent="-257175" algn="just">
              <a:buAutoNum type="arabicPlain" startAt="5"/>
            </a:pPr>
            <a:endParaRPr lang="en-US" sz="1350" dirty="0"/>
          </a:p>
          <a:p>
            <a:pPr marL="257175" indent="-257175" algn="just">
              <a:buAutoNum type="arabicPlain" startAt="5"/>
            </a:pPr>
            <a:endParaRPr lang="en-US" sz="1350" dirty="0"/>
          </a:p>
          <a:p>
            <a:pPr algn="just"/>
            <a:r>
              <a:rPr lang="en-US" sz="1350" dirty="0"/>
              <a:t>3       4         6         8</a:t>
            </a:r>
            <a:endParaRPr lang="en-IN" sz="1350" dirty="0"/>
          </a:p>
        </p:txBody>
      </p:sp>
      <p:sp>
        <p:nvSpPr>
          <p:cNvPr id="136" name="TextBox 135">
            <a:extLst>
              <a:ext uri="{FF2B5EF4-FFF2-40B4-BE49-F238E27FC236}">
                <a16:creationId xmlns:a16="http://schemas.microsoft.com/office/drawing/2014/main" id="{B275DD48-89BA-201C-1AA3-43450C3AA661}"/>
              </a:ext>
            </a:extLst>
          </p:cNvPr>
          <p:cNvSpPr txBox="1"/>
          <p:nvPr/>
        </p:nvSpPr>
        <p:spPr>
          <a:xfrm rot="10800000" flipH="1" flipV="1">
            <a:off x="6240544" y="1203576"/>
            <a:ext cx="1488729" cy="923330"/>
          </a:xfrm>
          <a:prstGeom prst="rect">
            <a:avLst/>
          </a:prstGeom>
          <a:noFill/>
        </p:spPr>
        <p:txBody>
          <a:bodyPr wrap="square" rtlCol="0">
            <a:spAutoFit/>
          </a:bodyPr>
          <a:lstStyle/>
          <a:p>
            <a:pPr marL="257175" indent="-257175" algn="just">
              <a:buAutoNum type="arabicPlain" startAt="5"/>
            </a:pPr>
            <a:r>
              <a:rPr lang="en-US" sz="1350" dirty="0"/>
              <a:t>  3         1         2</a:t>
            </a:r>
          </a:p>
          <a:p>
            <a:pPr marL="257175" indent="-257175" algn="just">
              <a:buAutoNum type="arabicPlain" startAt="5"/>
            </a:pPr>
            <a:endParaRPr lang="en-US" sz="1350" dirty="0"/>
          </a:p>
          <a:p>
            <a:pPr marL="257175" indent="-257175" algn="just">
              <a:buAutoNum type="arabicPlain" startAt="5"/>
            </a:pPr>
            <a:endParaRPr lang="en-US" sz="1350" dirty="0"/>
          </a:p>
          <a:p>
            <a:pPr algn="just"/>
            <a:r>
              <a:rPr lang="en-US" sz="1350" dirty="0"/>
              <a:t>3       4         6         8</a:t>
            </a:r>
            <a:endParaRPr lang="en-IN" sz="1350" dirty="0"/>
          </a:p>
        </p:txBody>
      </p:sp>
      <p:sp>
        <p:nvSpPr>
          <p:cNvPr id="137" name="TextBox 136">
            <a:extLst>
              <a:ext uri="{FF2B5EF4-FFF2-40B4-BE49-F238E27FC236}">
                <a16:creationId xmlns:a16="http://schemas.microsoft.com/office/drawing/2014/main" id="{48BB35DC-D2FA-D7F9-21E1-BF72DB7925F9}"/>
              </a:ext>
            </a:extLst>
          </p:cNvPr>
          <p:cNvSpPr txBox="1"/>
          <p:nvPr/>
        </p:nvSpPr>
        <p:spPr>
          <a:xfrm rot="10800000" flipH="1" flipV="1">
            <a:off x="391565" y="2984500"/>
            <a:ext cx="1488729" cy="923330"/>
          </a:xfrm>
          <a:prstGeom prst="rect">
            <a:avLst/>
          </a:prstGeom>
          <a:noFill/>
        </p:spPr>
        <p:txBody>
          <a:bodyPr wrap="square" rtlCol="0">
            <a:spAutoFit/>
          </a:bodyPr>
          <a:lstStyle/>
          <a:p>
            <a:pPr marL="257175" indent="-257175" algn="just">
              <a:buAutoNum type="arabicPlain" startAt="5"/>
            </a:pPr>
            <a:r>
              <a:rPr lang="en-US" sz="1350" dirty="0"/>
              <a:t>  3         1         2</a:t>
            </a:r>
          </a:p>
          <a:p>
            <a:pPr marL="257175" indent="-257175" algn="just">
              <a:buAutoNum type="arabicPlain" startAt="5"/>
            </a:pPr>
            <a:endParaRPr lang="en-US" sz="1350" dirty="0"/>
          </a:p>
          <a:p>
            <a:pPr marL="257175" indent="-257175" algn="just">
              <a:buAutoNum type="arabicPlain" startAt="5"/>
            </a:pPr>
            <a:endParaRPr lang="en-US" sz="1350" dirty="0"/>
          </a:p>
          <a:p>
            <a:pPr algn="just"/>
            <a:r>
              <a:rPr lang="en-US" sz="1350" dirty="0"/>
              <a:t>3       4         6         8</a:t>
            </a:r>
            <a:endParaRPr lang="en-IN" sz="1350" dirty="0"/>
          </a:p>
        </p:txBody>
      </p:sp>
      <p:sp>
        <p:nvSpPr>
          <p:cNvPr id="138" name="TextBox 137">
            <a:extLst>
              <a:ext uri="{FF2B5EF4-FFF2-40B4-BE49-F238E27FC236}">
                <a16:creationId xmlns:a16="http://schemas.microsoft.com/office/drawing/2014/main" id="{1A3E5C5F-1D85-17EA-B9D1-7A43F0B145C7}"/>
              </a:ext>
            </a:extLst>
          </p:cNvPr>
          <p:cNvSpPr txBox="1"/>
          <p:nvPr/>
        </p:nvSpPr>
        <p:spPr>
          <a:xfrm rot="10800000" flipH="1" flipV="1">
            <a:off x="3336261" y="2979409"/>
            <a:ext cx="1488729" cy="923330"/>
          </a:xfrm>
          <a:prstGeom prst="rect">
            <a:avLst/>
          </a:prstGeom>
          <a:noFill/>
        </p:spPr>
        <p:txBody>
          <a:bodyPr wrap="square" rtlCol="0">
            <a:spAutoFit/>
          </a:bodyPr>
          <a:lstStyle/>
          <a:p>
            <a:pPr marL="257175" indent="-257175" algn="just">
              <a:buAutoNum type="arabicPlain" startAt="5"/>
            </a:pPr>
            <a:r>
              <a:rPr lang="en-US" sz="1350" dirty="0"/>
              <a:t>  3         1         2</a:t>
            </a:r>
          </a:p>
          <a:p>
            <a:pPr marL="257175" indent="-257175" algn="just">
              <a:buAutoNum type="arabicPlain" startAt="5"/>
            </a:pPr>
            <a:endParaRPr lang="en-US" sz="1350" dirty="0"/>
          </a:p>
          <a:p>
            <a:pPr marL="257175" indent="-257175" algn="just">
              <a:buAutoNum type="arabicPlain" startAt="5"/>
            </a:pPr>
            <a:endParaRPr lang="en-US" sz="1350" dirty="0"/>
          </a:p>
          <a:p>
            <a:pPr algn="just"/>
            <a:r>
              <a:rPr lang="en-US" sz="1350" dirty="0"/>
              <a:t>3       4         6         8</a:t>
            </a:r>
            <a:endParaRPr lang="en-IN" sz="1350" dirty="0"/>
          </a:p>
        </p:txBody>
      </p:sp>
      <p:sp>
        <p:nvSpPr>
          <p:cNvPr id="139" name="TextBox 138">
            <a:extLst>
              <a:ext uri="{FF2B5EF4-FFF2-40B4-BE49-F238E27FC236}">
                <a16:creationId xmlns:a16="http://schemas.microsoft.com/office/drawing/2014/main" id="{C224E546-B8E1-F0FB-1F89-C1DA8710617D}"/>
              </a:ext>
            </a:extLst>
          </p:cNvPr>
          <p:cNvSpPr txBox="1"/>
          <p:nvPr/>
        </p:nvSpPr>
        <p:spPr>
          <a:xfrm rot="10800000" flipH="1" flipV="1">
            <a:off x="3336262" y="4667104"/>
            <a:ext cx="1488729" cy="923330"/>
          </a:xfrm>
          <a:prstGeom prst="rect">
            <a:avLst/>
          </a:prstGeom>
          <a:noFill/>
        </p:spPr>
        <p:txBody>
          <a:bodyPr wrap="square" rtlCol="0">
            <a:spAutoFit/>
          </a:bodyPr>
          <a:lstStyle/>
          <a:p>
            <a:pPr marL="257175" indent="-257175" algn="just">
              <a:buAutoNum type="arabicPlain" startAt="5"/>
            </a:pPr>
            <a:r>
              <a:rPr lang="en-US" sz="1350" dirty="0"/>
              <a:t>  3         1         2</a:t>
            </a:r>
          </a:p>
          <a:p>
            <a:pPr marL="257175" indent="-257175" algn="just">
              <a:buAutoNum type="arabicPlain" startAt="5"/>
            </a:pPr>
            <a:endParaRPr lang="en-US" sz="1350" dirty="0"/>
          </a:p>
          <a:p>
            <a:pPr marL="257175" indent="-257175" algn="just">
              <a:buAutoNum type="arabicPlain" startAt="5"/>
            </a:pPr>
            <a:endParaRPr lang="en-US" sz="1350" dirty="0"/>
          </a:p>
          <a:p>
            <a:pPr algn="just"/>
            <a:r>
              <a:rPr lang="en-US" sz="1350" dirty="0"/>
              <a:t>3       4         6         8</a:t>
            </a:r>
            <a:endParaRPr lang="en-IN" sz="1350" dirty="0"/>
          </a:p>
        </p:txBody>
      </p:sp>
      <p:sp>
        <p:nvSpPr>
          <p:cNvPr id="140" name="TextBox 139">
            <a:extLst>
              <a:ext uri="{FF2B5EF4-FFF2-40B4-BE49-F238E27FC236}">
                <a16:creationId xmlns:a16="http://schemas.microsoft.com/office/drawing/2014/main" id="{198BAB67-D132-67EA-C03E-1BC90D3B4BCF}"/>
              </a:ext>
            </a:extLst>
          </p:cNvPr>
          <p:cNvSpPr txBox="1"/>
          <p:nvPr/>
        </p:nvSpPr>
        <p:spPr>
          <a:xfrm flipH="1">
            <a:off x="3298083" y="976135"/>
            <a:ext cx="1225489" cy="300082"/>
          </a:xfrm>
          <a:prstGeom prst="rect">
            <a:avLst/>
          </a:prstGeom>
          <a:noFill/>
        </p:spPr>
        <p:txBody>
          <a:bodyPr wrap="square" rtlCol="0">
            <a:spAutoFit/>
          </a:bodyPr>
          <a:lstStyle/>
          <a:p>
            <a:r>
              <a:rPr lang="en-US" sz="1350" dirty="0"/>
              <a:t>Step 2</a:t>
            </a:r>
            <a:endParaRPr lang="en-IN" sz="1350" dirty="0"/>
          </a:p>
        </p:txBody>
      </p:sp>
      <p:sp>
        <p:nvSpPr>
          <p:cNvPr id="141" name="TextBox 140">
            <a:extLst>
              <a:ext uri="{FF2B5EF4-FFF2-40B4-BE49-F238E27FC236}">
                <a16:creationId xmlns:a16="http://schemas.microsoft.com/office/drawing/2014/main" id="{C1445464-D2AB-3129-D251-653020241718}"/>
              </a:ext>
            </a:extLst>
          </p:cNvPr>
          <p:cNvSpPr txBox="1"/>
          <p:nvPr/>
        </p:nvSpPr>
        <p:spPr>
          <a:xfrm flipH="1">
            <a:off x="6240543" y="1003462"/>
            <a:ext cx="1225489" cy="300082"/>
          </a:xfrm>
          <a:prstGeom prst="rect">
            <a:avLst/>
          </a:prstGeom>
          <a:noFill/>
        </p:spPr>
        <p:txBody>
          <a:bodyPr wrap="square" rtlCol="0">
            <a:spAutoFit/>
          </a:bodyPr>
          <a:lstStyle/>
          <a:p>
            <a:r>
              <a:rPr lang="en-US" sz="1350" dirty="0"/>
              <a:t>Step 3</a:t>
            </a:r>
            <a:endParaRPr lang="en-IN" sz="1350" dirty="0"/>
          </a:p>
        </p:txBody>
      </p:sp>
      <p:sp>
        <p:nvSpPr>
          <p:cNvPr id="142" name="TextBox 141">
            <a:extLst>
              <a:ext uri="{FF2B5EF4-FFF2-40B4-BE49-F238E27FC236}">
                <a16:creationId xmlns:a16="http://schemas.microsoft.com/office/drawing/2014/main" id="{C3B431A4-C0B0-6CFB-3A79-7112F51C450C}"/>
              </a:ext>
            </a:extLst>
          </p:cNvPr>
          <p:cNvSpPr txBox="1"/>
          <p:nvPr/>
        </p:nvSpPr>
        <p:spPr>
          <a:xfrm flipH="1">
            <a:off x="391565" y="2741014"/>
            <a:ext cx="1225489" cy="300082"/>
          </a:xfrm>
          <a:prstGeom prst="rect">
            <a:avLst/>
          </a:prstGeom>
          <a:noFill/>
        </p:spPr>
        <p:txBody>
          <a:bodyPr wrap="square" rtlCol="0">
            <a:spAutoFit/>
          </a:bodyPr>
          <a:lstStyle/>
          <a:p>
            <a:r>
              <a:rPr lang="en-US" sz="1350" dirty="0"/>
              <a:t>Step 4</a:t>
            </a:r>
            <a:endParaRPr lang="en-IN" sz="1350" dirty="0"/>
          </a:p>
        </p:txBody>
      </p:sp>
      <p:sp>
        <p:nvSpPr>
          <p:cNvPr id="143" name="TextBox 142">
            <a:extLst>
              <a:ext uri="{FF2B5EF4-FFF2-40B4-BE49-F238E27FC236}">
                <a16:creationId xmlns:a16="http://schemas.microsoft.com/office/drawing/2014/main" id="{E4D2D12C-7DD7-CA73-E818-4BDA5CE96F48}"/>
              </a:ext>
            </a:extLst>
          </p:cNvPr>
          <p:cNvSpPr txBox="1"/>
          <p:nvPr/>
        </p:nvSpPr>
        <p:spPr>
          <a:xfrm flipH="1">
            <a:off x="3336261" y="2753608"/>
            <a:ext cx="1225489" cy="300082"/>
          </a:xfrm>
          <a:prstGeom prst="rect">
            <a:avLst/>
          </a:prstGeom>
          <a:noFill/>
        </p:spPr>
        <p:txBody>
          <a:bodyPr wrap="square" rtlCol="0">
            <a:spAutoFit/>
          </a:bodyPr>
          <a:lstStyle/>
          <a:p>
            <a:r>
              <a:rPr lang="en-US" sz="1350" dirty="0"/>
              <a:t>Step 5</a:t>
            </a:r>
            <a:endParaRPr lang="en-IN" sz="1350" dirty="0"/>
          </a:p>
        </p:txBody>
      </p:sp>
      <p:sp>
        <p:nvSpPr>
          <p:cNvPr id="144" name="TextBox 143">
            <a:extLst>
              <a:ext uri="{FF2B5EF4-FFF2-40B4-BE49-F238E27FC236}">
                <a16:creationId xmlns:a16="http://schemas.microsoft.com/office/drawing/2014/main" id="{143EE34F-54FF-396C-CCC3-117517FBFF22}"/>
              </a:ext>
            </a:extLst>
          </p:cNvPr>
          <p:cNvSpPr txBox="1"/>
          <p:nvPr/>
        </p:nvSpPr>
        <p:spPr>
          <a:xfrm flipH="1">
            <a:off x="3336261" y="4457316"/>
            <a:ext cx="1225489" cy="300082"/>
          </a:xfrm>
          <a:prstGeom prst="rect">
            <a:avLst/>
          </a:prstGeom>
          <a:noFill/>
        </p:spPr>
        <p:txBody>
          <a:bodyPr wrap="square" rtlCol="0">
            <a:spAutoFit/>
          </a:bodyPr>
          <a:lstStyle/>
          <a:p>
            <a:r>
              <a:rPr lang="en-US" sz="1350" dirty="0"/>
              <a:t>Step 7</a:t>
            </a:r>
            <a:endParaRPr lang="en-IN" sz="1350" dirty="0"/>
          </a:p>
        </p:txBody>
      </p:sp>
      <p:cxnSp>
        <p:nvCxnSpPr>
          <p:cNvPr id="145" name="Straight Arrow Connector 144">
            <a:extLst>
              <a:ext uri="{FF2B5EF4-FFF2-40B4-BE49-F238E27FC236}">
                <a16:creationId xmlns:a16="http://schemas.microsoft.com/office/drawing/2014/main" id="{32E01C4A-41E3-A7AD-D1C3-D266950150CC}"/>
              </a:ext>
            </a:extLst>
          </p:cNvPr>
          <p:cNvCxnSpPr/>
          <p:nvPr/>
        </p:nvCxnSpPr>
        <p:spPr>
          <a:xfrm>
            <a:off x="1739246" y="1436998"/>
            <a:ext cx="7070" cy="438346"/>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46" name="Straight Arrow Connector 145">
            <a:extLst>
              <a:ext uri="{FF2B5EF4-FFF2-40B4-BE49-F238E27FC236}">
                <a16:creationId xmlns:a16="http://schemas.microsoft.com/office/drawing/2014/main" id="{5C130D3F-80BA-A50B-52DD-3C9B7710862F}"/>
              </a:ext>
            </a:extLst>
          </p:cNvPr>
          <p:cNvCxnSpPr/>
          <p:nvPr/>
        </p:nvCxnSpPr>
        <p:spPr>
          <a:xfrm flipH="1">
            <a:off x="4257440" y="1410995"/>
            <a:ext cx="368234" cy="474250"/>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47" name="Straight Arrow Connector 146">
            <a:extLst>
              <a:ext uri="{FF2B5EF4-FFF2-40B4-BE49-F238E27FC236}">
                <a16:creationId xmlns:a16="http://schemas.microsoft.com/office/drawing/2014/main" id="{2FFBBADB-C858-B39B-52D1-D508E1A8E4AB}"/>
              </a:ext>
            </a:extLst>
          </p:cNvPr>
          <p:cNvCxnSpPr/>
          <p:nvPr/>
        </p:nvCxnSpPr>
        <p:spPr>
          <a:xfrm>
            <a:off x="4232223" y="1424490"/>
            <a:ext cx="418668" cy="415886"/>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48" name="Straight Arrow Connector 147">
            <a:extLst>
              <a:ext uri="{FF2B5EF4-FFF2-40B4-BE49-F238E27FC236}">
                <a16:creationId xmlns:a16="http://schemas.microsoft.com/office/drawing/2014/main" id="{02E31BAE-F8A5-2C5B-B133-66EEB7A79D67}"/>
              </a:ext>
            </a:extLst>
          </p:cNvPr>
          <p:cNvCxnSpPr/>
          <p:nvPr/>
        </p:nvCxnSpPr>
        <p:spPr>
          <a:xfrm>
            <a:off x="6723672" y="1442123"/>
            <a:ext cx="821072"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49" name="Straight Arrow Connector 148">
            <a:extLst>
              <a:ext uri="{FF2B5EF4-FFF2-40B4-BE49-F238E27FC236}">
                <a16:creationId xmlns:a16="http://schemas.microsoft.com/office/drawing/2014/main" id="{114FFED1-2C6E-E146-F23D-AFD13B7834CE}"/>
              </a:ext>
            </a:extLst>
          </p:cNvPr>
          <p:cNvCxnSpPr/>
          <p:nvPr/>
        </p:nvCxnSpPr>
        <p:spPr>
          <a:xfrm flipV="1">
            <a:off x="6723672" y="1442123"/>
            <a:ext cx="821072"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0" name="Straight Arrow Connector 149">
            <a:extLst>
              <a:ext uri="{FF2B5EF4-FFF2-40B4-BE49-F238E27FC236}">
                <a16:creationId xmlns:a16="http://schemas.microsoft.com/office/drawing/2014/main" id="{2B500153-5D7B-E597-7AE5-DFEBE807AA68}"/>
              </a:ext>
            </a:extLst>
          </p:cNvPr>
          <p:cNvCxnSpPr/>
          <p:nvPr/>
        </p:nvCxnSpPr>
        <p:spPr>
          <a:xfrm>
            <a:off x="7134208" y="1442123"/>
            <a:ext cx="0"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1" name="Straight Arrow Connector 150">
            <a:extLst>
              <a:ext uri="{FF2B5EF4-FFF2-40B4-BE49-F238E27FC236}">
                <a16:creationId xmlns:a16="http://schemas.microsoft.com/office/drawing/2014/main" id="{2538F40F-9CFC-F76D-609F-D901E96EF638}"/>
              </a:ext>
            </a:extLst>
          </p:cNvPr>
          <p:cNvCxnSpPr/>
          <p:nvPr/>
        </p:nvCxnSpPr>
        <p:spPr>
          <a:xfrm>
            <a:off x="526725" y="3200757"/>
            <a:ext cx="1179470"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2" name="Straight Arrow Connector 151">
            <a:extLst>
              <a:ext uri="{FF2B5EF4-FFF2-40B4-BE49-F238E27FC236}">
                <a16:creationId xmlns:a16="http://schemas.microsoft.com/office/drawing/2014/main" id="{30445AD8-B436-7872-C757-CC6FCCF0C1FD}"/>
              </a:ext>
            </a:extLst>
          </p:cNvPr>
          <p:cNvCxnSpPr/>
          <p:nvPr/>
        </p:nvCxnSpPr>
        <p:spPr>
          <a:xfrm flipV="1">
            <a:off x="526724" y="3200757"/>
            <a:ext cx="1154253"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3" name="Straight Arrow Connector 152">
            <a:extLst>
              <a:ext uri="{FF2B5EF4-FFF2-40B4-BE49-F238E27FC236}">
                <a16:creationId xmlns:a16="http://schemas.microsoft.com/office/drawing/2014/main" id="{4BD34227-6881-5377-3F22-B5558F70F045}"/>
              </a:ext>
            </a:extLst>
          </p:cNvPr>
          <p:cNvCxnSpPr/>
          <p:nvPr/>
        </p:nvCxnSpPr>
        <p:spPr>
          <a:xfrm>
            <a:off x="873160" y="3200757"/>
            <a:ext cx="428507"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4" name="Straight Arrow Connector 153">
            <a:extLst>
              <a:ext uri="{FF2B5EF4-FFF2-40B4-BE49-F238E27FC236}">
                <a16:creationId xmlns:a16="http://schemas.microsoft.com/office/drawing/2014/main" id="{BBAC12B1-94B5-C9F2-4003-6BC3E67518CD}"/>
              </a:ext>
            </a:extLst>
          </p:cNvPr>
          <p:cNvCxnSpPr/>
          <p:nvPr/>
        </p:nvCxnSpPr>
        <p:spPr>
          <a:xfrm flipV="1">
            <a:off x="873160" y="3200757"/>
            <a:ext cx="414367"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5" name="Straight Arrow Connector 154">
            <a:extLst>
              <a:ext uri="{FF2B5EF4-FFF2-40B4-BE49-F238E27FC236}">
                <a16:creationId xmlns:a16="http://schemas.microsoft.com/office/drawing/2014/main" id="{E4B0716B-9E53-3183-3239-5C48E3FB6777}"/>
              </a:ext>
            </a:extLst>
          </p:cNvPr>
          <p:cNvCxnSpPr/>
          <p:nvPr/>
        </p:nvCxnSpPr>
        <p:spPr>
          <a:xfrm>
            <a:off x="3474953" y="3202735"/>
            <a:ext cx="721151"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6" name="Straight Arrow Connector 155">
            <a:extLst>
              <a:ext uri="{FF2B5EF4-FFF2-40B4-BE49-F238E27FC236}">
                <a16:creationId xmlns:a16="http://schemas.microsoft.com/office/drawing/2014/main" id="{42875FAB-4DD4-2A14-081F-1D4C6BE20CF4}"/>
              </a:ext>
            </a:extLst>
          </p:cNvPr>
          <p:cNvCxnSpPr/>
          <p:nvPr/>
        </p:nvCxnSpPr>
        <p:spPr>
          <a:xfrm flipV="1">
            <a:off x="3474953" y="3202735"/>
            <a:ext cx="721151"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57" name="Straight Arrow Connector 156">
            <a:extLst>
              <a:ext uri="{FF2B5EF4-FFF2-40B4-BE49-F238E27FC236}">
                <a16:creationId xmlns:a16="http://schemas.microsoft.com/office/drawing/2014/main" id="{67989943-CEF6-89B2-A363-9D50EBA5B897}"/>
              </a:ext>
            </a:extLst>
          </p:cNvPr>
          <p:cNvCxnSpPr/>
          <p:nvPr/>
        </p:nvCxnSpPr>
        <p:spPr>
          <a:xfrm>
            <a:off x="3807248" y="3202735"/>
            <a:ext cx="0"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sp>
        <p:nvSpPr>
          <p:cNvPr id="158" name="Rounded Rectangle 76">
            <a:extLst>
              <a:ext uri="{FF2B5EF4-FFF2-40B4-BE49-F238E27FC236}">
                <a16:creationId xmlns:a16="http://schemas.microsoft.com/office/drawing/2014/main" id="{0F563C17-CE7D-831B-4883-FF03CAA406BD}"/>
              </a:ext>
            </a:extLst>
          </p:cNvPr>
          <p:cNvSpPr/>
          <p:nvPr/>
        </p:nvSpPr>
        <p:spPr>
          <a:xfrm>
            <a:off x="6152169" y="2779477"/>
            <a:ext cx="1746316" cy="145644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a:p>
        </p:txBody>
      </p:sp>
      <p:cxnSp>
        <p:nvCxnSpPr>
          <p:cNvPr id="159" name="Straight Connector 158">
            <a:extLst>
              <a:ext uri="{FF2B5EF4-FFF2-40B4-BE49-F238E27FC236}">
                <a16:creationId xmlns:a16="http://schemas.microsoft.com/office/drawing/2014/main" id="{CBD3A234-0FF5-0B65-6C47-BDA3A746E319}"/>
              </a:ext>
            </a:extLst>
          </p:cNvPr>
          <p:cNvCxnSpPr/>
          <p:nvPr/>
        </p:nvCxnSpPr>
        <p:spPr>
          <a:xfrm flipV="1">
            <a:off x="6152169" y="3931905"/>
            <a:ext cx="1746316" cy="7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D3300D0C-4E7A-947C-D1FD-CA2193EBDEA1}"/>
              </a:ext>
            </a:extLst>
          </p:cNvPr>
          <p:cNvSpPr txBox="1"/>
          <p:nvPr/>
        </p:nvSpPr>
        <p:spPr>
          <a:xfrm rot="10800000" flipH="1" flipV="1">
            <a:off x="6280961" y="2977192"/>
            <a:ext cx="1488729" cy="923330"/>
          </a:xfrm>
          <a:prstGeom prst="rect">
            <a:avLst/>
          </a:prstGeom>
          <a:noFill/>
        </p:spPr>
        <p:txBody>
          <a:bodyPr wrap="square" rtlCol="0">
            <a:spAutoFit/>
          </a:bodyPr>
          <a:lstStyle/>
          <a:p>
            <a:pPr marL="257175" indent="-257175" algn="just">
              <a:buAutoNum type="arabicPlain" startAt="5"/>
            </a:pPr>
            <a:r>
              <a:rPr lang="en-US" sz="1350" dirty="0"/>
              <a:t>  3         1         2</a:t>
            </a:r>
          </a:p>
          <a:p>
            <a:pPr marL="257175" indent="-257175" algn="just">
              <a:buAutoNum type="arabicPlain" startAt="5"/>
            </a:pPr>
            <a:endParaRPr lang="en-US" sz="1350" dirty="0"/>
          </a:p>
          <a:p>
            <a:pPr marL="257175" indent="-257175" algn="just">
              <a:buAutoNum type="arabicPlain" startAt="5"/>
            </a:pPr>
            <a:endParaRPr lang="en-US" sz="1350" dirty="0"/>
          </a:p>
          <a:p>
            <a:pPr algn="just"/>
            <a:r>
              <a:rPr lang="en-US" sz="1350" dirty="0"/>
              <a:t>3       4         6         8</a:t>
            </a:r>
            <a:endParaRPr lang="en-IN" sz="1350" dirty="0"/>
          </a:p>
        </p:txBody>
      </p:sp>
      <p:sp>
        <p:nvSpPr>
          <p:cNvPr id="161" name="TextBox 160">
            <a:extLst>
              <a:ext uri="{FF2B5EF4-FFF2-40B4-BE49-F238E27FC236}">
                <a16:creationId xmlns:a16="http://schemas.microsoft.com/office/drawing/2014/main" id="{35B8D625-05DF-9A76-17E2-B5AD64421CC5}"/>
              </a:ext>
            </a:extLst>
          </p:cNvPr>
          <p:cNvSpPr txBox="1"/>
          <p:nvPr/>
        </p:nvSpPr>
        <p:spPr>
          <a:xfrm flipH="1">
            <a:off x="6280962" y="2753608"/>
            <a:ext cx="1225489" cy="300082"/>
          </a:xfrm>
          <a:prstGeom prst="rect">
            <a:avLst/>
          </a:prstGeom>
          <a:noFill/>
        </p:spPr>
        <p:txBody>
          <a:bodyPr wrap="square" rtlCol="0">
            <a:spAutoFit/>
          </a:bodyPr>
          <a:lstStyle/>
          <a:p>
            <a:r>
              <a:rPr lang="en-US" sz="1350" dirty="0"/>
              <a:t>Step 6</a:t>
            </a:r>
            <a:endParaRPr lang="en-IN" sz="1350" dirty="0"/>
          </a:p>
        </p:txBody>
      </p:sp>
      <p:cxnSp>
        <p:nvCxnSpPr>
          <p:cNvPr id="162" name="Straight Arrow Connector 161">
            <a:extLst>
              <a:ext uri="{FF2B5EF4-FFF2-40B4-BE49-F238E27FC236}">
                <a16:creationId xmlns:a16="http://schemas.microsoft.com/office/drawing/2014/main" id="{BE7C4488-C69F-3BD1-DB44-6E07A54D5048}"/>
              </a:ext>
            </a:extLst>
          </p:cNvPr>
          <p:cNvCxnSpPr/>
          <p:nvPr/>
        </p:nvCxnSpPr>
        <p:spPr>
          <a:xfrm>
            <a:off x="6405514" y="3200757"/>
            <a:ext cx="318158"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63" name="Straight Arrow Connector 162">
            <a:extLst>
              <a:ext uri="{FF2B5EF4-FFF2-40B4-BE49-F238E27FC236}">
                <a16:creationId xmlns:a16="http://schemas.microsoft.com/office/drawing/2014/main" id="{53578392-46C9-F1A1-6B23-463892A084B3}"/>
              </a:ext>
            </a:extLst>
          </p:cNvPr>
          <p:cNvCxnSpPr/>
          <p:nvPr/>
        </p:nvCxnSpPr>
        <p:spPr>
          <a:xfrm flipV="1">
            <a:off x="6405514" y="3200757"/>
            <a:ext cx="318158" cy="47650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64" name="Straight Arrow Connector 163">
            <a:extLst>
              <a:ext uri="{FF2B5EF4-FFF2-40B4-BE49-F238E27FC236}">
                <a16:creationId xmlns:a16="http://schemas.microsoft.com/office/drawing/2014/main" id="{5B9BDC52-3CD8-A331-C0EA-58F6D811987E}"/>
              </a:ext>
            </a:extLst>
          </p:cNvPr>
          <p:cNvCxnSpPr/>
          <p:nvPr/>
        </p:nvCxnSpPr>
        <p:spPr>
          <a:xfrm>
            <a:off x="3446672" y="4908419"/>
            <a:ext cx="0" cy="445416"/>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sp>
        <p:nvSpPr>
          <p:cNvPr id="165" name="TextBox 164">
            <a:extLst>
              <a:ext uri="{FF2B5EF4-FFF2-40B4-BE49-F238E27FC236}">
                <a16:creationId xmlns:a16="http://schemas.microsoft.com/office/drawing/2014/main" id="{FCE9A8D9-B69C-002D-674D-B48EBBCAEEB4}"/>
              </a:ext>
            </a:extLst>
          </p:cNvPr>
          <p:cNvSpPr txBox="1"/>
          <p:nvPr/>
        </p:nvSpPr>
        <p:spPr>
          <a:xfrm>
            <a:off x="2177590" y="1280461"/>
            <a:ext cx="618635" cy="507831"/>
          </a:xfrm>
          <a:prstGeom prst="rect">
            <a:avLst/>
          </a:prstGeom>
          <a:noFill/>
        </p:spPr>
        <p:txBody>
          <a:bodyPr wrap="square" rtlCol="0">
            <a:spAutoFit/>
          </a:bodyPr>
          <a:lstStyle/>
          <a:p>
            <a:r>
              <a:rPr lang="en-US" sz="1350" dirty="0"/>
              <a:t>Carry</a:t>
            </a:r>
          </a:p>
          <a:p>
            <a:pPr algn="just"/>
            <a:r>
              <a:rPr lang="en-US" sz="1350" dirty="0"/>
              <a:t>   1</a:t>
            </a:r>
            <a:endParaRPr lang="en-IN" sz="1350" dirty="0"/>
          </a:p>
        </p:txBody>
      </p:sp>
      <p:sp>
        <p:nvSpPr>
          <p:cNvPr id="166" name="TextBox 165">
            <a:extLst>
              <a:ext uri="{FF2B5EF4-FFF2-40B4-BE49-F238E27FC236}">
                <a16:creationId xmlns:a16="http://schemas.microsoft.com/office/drawing/2014/main" id="{F99DA3CA-5E40-7FA5-B905-D99A39218A1E}"/>
              </a:ext>
            </a:extLst>
          </p:cNvPr>
          <p:cNvSpPr txBox="1"/>
          <p:nvPr/>
        </p:nvSpPr>
        <p:spPr>
          <a:xfrm>
            <a:off x="2060466" y="3126955"/>
            <a:ext cx="618635" cy="507831"/>
          </a:xfrm>
          <a:prstGeom prst="rect">
            <a:avLst/>
          </a:prstGeom>
          <a:noFill/>
        </p:spPr>
        <p:txBody>
          <a:bodyPr wrap="square" rtlCol="0">
            <a:spAutoFit/>
          </a:bodyPr>
          <a:lstStyle/>
          <a:p>
            <a:r>
              <a:rPr lang="en-US" sz="1350" dirty="0"/>
              <a:t>Carry</a:t>
            </a:r>
          </a:p>
          <a:p>
            <a:r>
              <a:rPr lang="en-US" sz="1350" dirty="0"/>
              <a:t>    7</a:t>
            </a:r>
            <a:endParaRPr lang="en-IN" sz="1350" dirty="0"/>
          </a:p>
        </p:txBody>
      </p:sp>
      <p:sp>
        <p:nvSpPr>
          <p:cNvPr id="167" name="TextBox 166">
            <a:extLst>
              <a:ext uri="{FF2B5EF4-FFF2-40B4-BE49-F238E27FC236}">
                <a16:creationId xmlns:a16="http://schemas.microsoft.com/office/drawing/2014/main" id="{88BCE2A7-A084-6C8D-483D-9696D0FF61C2}"/>
              </a:ext>
            </a:extLst>
          </p:cNvPr>
          <p:cNvSpPr txBox="1"/>
          <p:nvPr/>
        </p:nvSpPr>
        <p:spPr>
          <a:xfrm>
            <a:off x="7949161" y="1210756"/>
            <a:ext cx="618635" cy="507831"/>
          </a:xfrm>
          <a:prstGeom prst="rect">
            <a:avLst/>
          </a:prstGeom>
          <a:noFill/>
        </p:spPr>
        <p:txBody>
          <a:bodyPr wrap="square" rtlCol="0">
            <a:spAutoFit/>
          </a:bodyPr>
          <a:lstStyle/>
          <a:p>
            <a:r>
              <a:rPr lang="en-US" sz="1350" dirty="0"/>
              <a:t>Carry</a:t>
            </a:r>
          </a:p>
          <a:p>
            <a:r>
              <a:rPr lang="en-US" sz="1350" dirty="0"/>
              <a:t>    4</a:t>
            </a:r>
            <a:endParaRPr lang="en-IN" sz="1350" dirty="0"/>
          </a:p>
        </p:txBody>
      </p:sp>
      <p:sp>
        <p:nvSpPr>
          <p:cNvPr id="168" name="TextBox 167">
            <a:extLst>
              <a:ext uri="{FF2B5EF4-FFF2-40B4-BE49-F238E27FC236}">
                <a16:creationId xmlns:a16="http://schemas.microsoft.com/office/drawing/2014/main" id="{5364A163-4D76-F746-CD78-6024EA59EF23}"/>
              </a:ext>
            </a:extLst>
          </p:cNvPr>
          <p:cNvSpPr txBox="1"/>
          <p:nvPr/>
        </p:nvSpPr>
        <p:spPr>
          <a:xfrm>
            <a:off x="5018948" y="1272496"/>
            <a:ext cx="618635" cy="507831"/>
          </a:xfrm>
          <a:prstGeom prst="rect">
            <a:avLst/>
          </a:prstGeom>
          <a:noFill/>
        </p:spPr>
        <p:txBody>
          <a:bodyPr wrap="square" rtlCol="0">
            <a:spAutoFit/>
          </a:bodyPr>
          <a:lstStyle/>
          <a:p>
            <a:r>
              <a:rPr lang="en-US" sz="1350" dirty="0"/>
              <a:t>Carry</a:t>
            </a:r>
          </a:p>
          <a:p>
            <a:r>
              <a:rPr lang="en-US" sz="1350" dirty="0"/>
              <a:t>   2</a:t>
            </a:r>
            <a:endParaRPr lang="en-IN" sz="1350" dirty="0"/>
          </a:p>
        </p:txBody>
      </p:sp>
      <p:sp>
        <p:nvSpPr>
          <p:cNvPr id="169" name="TextBox 168">
            <a:extLst>
              <a:ext uri="{FF2B5EF4-FFF2-40B4-BE49-F238E27FC236}">
                <a16:creationId xmlns:a16="http://schemas.microsoft.com/office/drawing/2014/main" id="{C0AEE82A-5FD6-645F-FC3D-18CF18668CA8}"/>
              </a:ext>
            </a:extLst>
          </p:cNvPr>
          <p:cNvSpPr txBox="1"/>
          <p:nvPr/>
        </p:nvSpPr>
        <p:spPr>
          <a:xfrm>
            <a:off x="7949161" y="3030608"/>
            <a:ext cx="618635" cy="507831"/>
          </a:xfrm>
          <a:prstGeom prst="rect">
            <a:avLst/>
          </a:prstGeom>
          <a:noFill/>
        </p:spPr>
        <p:txBody>
          <a:bodyPr wrap="square" rtlCol="0">
            <a:spAutoFit/>
          </a:bodyPr>
          <a:lstStyle/>
          <a:p>
            <a:r>
              <a:rPr lang="en-US" sz="1350" dirty="0"/>
              <a:t>Carry</a:t>
            </a:r>
          </a:p>
          <a:p>
            <a:r>
              <a:rPr lang="en-US" sz="1350" dirty="0"/>
              <a:t>    3</a:t>
            </a:r>
            <a:endParaRPr lang="en-IN" sz="1350" dirty="0"/>
          </a:p>
        </p:txBody>
      </p:sp>
      <p:sp>
        <p:nvSpPr>
          <p:cNvPr id="170" name="TextBox 169">
            <a:extLst>
              <a:ext uri="{FF2B5EF4-FFF2-40B4-BE49-F238E27FC236}">
                <a16:creationId xmlns:a16="http://schemas.microsoft.com/office/drawing/2014/main" id="{1759226A-5491-4DDC-B99D-733E4D357766}"/>
              </a:ext>
            </a:extLst>
          </p:cNvPr>
          <p:cNvSpPr txBox="1"/>
          <p:nvPr/>
        </p:nvSpPr>
        <p:spPr>
          <a:xfrm>
            <a:off x="5011108" y="3126955"/>
            <a:ext cx="618635" cy="507831"/>
          </a:xfrm>
          <a:prstGeom prst="rect">
            <a:avLst/>
          </a:prstGeom>
          <a:noFill/>
        </p:spPr>
        <p:txBody>
          <a:bodyPr wrap="square" rtlCol="0">
            <a:spAutoFit/>
          </a:bodyPr>
          <a:lstStyle/>
          <a:p>
            <a:r>
              <a:rPr lang="en-US" sz="1350" dirty="0"/>
              <a:t>Carry</a:t>
            </a:r>
          </a:p>
          <a:p>
            <a:r>
              <a:rPr lang="en-US" sz="1350" dirty="0"/>
              <a:t>    5</a:t>
            </a:r>
            <a:endParaRPr lang="en-IN" sz="1350" dirty="0"/>
          </a:p>
        </p:txBody>
      </p:sp>
      <p:sp>
        <p:nvSpPr>
          <p:cNvPr id="171" name="TextBox 170">
            <a:extLst>
              <a:ext uri="{FF2B5EF4-FFF2-40B4-BE49-F238E27FC236}">
                <a16:creationId xmlns:a16="http://schemas.microsoft.com/office/drawing/2014/main" id="{36B2AB2A-D1F1-0913-9A11-7CBE1B3E831C}"/>
              </a:ext>
            </a:extLst>
          </p:cNvPr>
          <p:cNvSpPr txBox="1"/>
          <p:nvPr/>
        </p:nvSpPr>
        <p:spPr>
          <a:xfrm>
            <a:off x="3254519" y="5635647"/>
            <a:ext cx="1885445" cy="300082"/>
          </a:xfrm>
          <a:prstGeom prst="rect">
            <a:avLst/>
          </a:prstGeom>
          <a:noFill/>
        </p:spPr>
        <p:txBody>
          <a:bodyPr wrap="square" rtlCol="0">
            <a:spAutoFit/>
          </a:bodyPr>
          <a:lstStyle/>
          <a:p>
            <a:r>
              <a:rPr lang="en-US" sz="1350" dirty="0"/>
              <a:t>1   8   4   2   2   0   1   6</a:t>
            </a:r>
            <a:endParaRPr lang="en-IN" sz="1350" dirty="0"/>
          </a:p>
        </p:txBody>
      </p:sp>
      <p:sp>
        <p:nvSpPr>
          <p:cNvPr id="172" name="TextBox 171">
            <a:extLst>
              <a:ext uri="{FF2B5EF4-FFF2-40B4-BE49-F238E27FC236}">
                <a16:creationId xmlns:a16="http://schemas.microsoft.com/office/drawing/2014/main" id="{C5CDBF18-63C1-7124-0DED-B0452CD36BB7}"/>
              </a:ext>
            </a:extLst>
          </p:cNvPr>
          <p:cNvSpPr txBox="1"/>
          <p:nvPr/>
        </p:nvSpPr>
        <p:spPr>
          <a:xfrm>
            <a:off x="6181387" y="3912001"/>
            <a:ext cx="1885445" cy="300082"/>
          </a:xfrm>
          <a:prstGeom prst="rect">
            <a:avLst/>
          </a:prstGeom>
          <a:noFill/>
        </p:spPr>
        <p:txBody>
          <a:bodyPr wrap="square" rtlCol="0">
            <a:spAutoFit/>
          </a:bodyPr>
          <a:lstStyle/>
          <a:p>
            <a:r>
              <a:rPr lang="en-US" sz="1350" dirty="0"/>
              <a:t>         4   2   2   0   1   6</a:t>
            </a:r>
            <a:endParaRPr lang="en-IN" sz="1350" dirty="0"/>
          </a:p>
        </p:txBody>
      </p:sp>
      <p:sp>
        <p:nvSpPr>
          <p:cNvPr id="173" name="TextBox 172">
            <a:extLst>
              <a:ext uri="{FF2B5EF4-FFF2-40B4-BE49-F238E27FC236}">
                <a16:creationId xmlns:a16="http://schemas.microsoft.com/office/drawing/2014/main" id="{7D0FED6E-64CD-A5FC-1223-7CC82F3FA352}"/>
              </a:ext>
            </a:extLst>
          </p:cNvPr>
          <p:cNvSpPr txBox="1"/>
          <p:nvPr/>
        </p:nvSpPr>
        <p:spPr>
          <a:xfrm>
            <a:off x="3199572" y="3877036"/>
            <a:ext cx="1885445" cy="300082"/>
          </a:xfrm>
          <a:prstGeom prst="rect">
            <a:avLst/>
          </a:prstGeom>
          <a:noFill/>
        </p:spPr>
        <p:txBody>
          <a:bodyPr wrap="square" rtlCol="0">
            <a:spAutoFit/>
          </a:bodyPr>
          <a:lstStyle/>
          <a:p>
            <a:r>
              <a:rPr lang="en-US" sz="1350" dirty="0"/>
              <a:t>               2   2   0   1   6</a:t>
            </a:r>
            <a:endParaRPr lang="en-IN" sz="1350" dirty="0"/>
          </a:p>
        </p:txBody>
      </p:sp>
      <p:sp>
        <p:nvSpPr>
          <p:cNvPr id="174" name="TextBox 173">
            <a:extLst>
              <a:ext uri="{FF2B5EF4-FFF2-40B4-BE49-F238E27FC236}">
                <a16:creationId xmlns:a16="http://schemas.microsoft.com/office/drawing/2014/main" id="{8B1C8FCB-ABD6-A588-9CD9-82FC5D7F0B98}"/>
              </a:ext>
            </a:extLst>
          </p:cNvPr>
          <p:cNvSpPr txBox="1"/>
          <p:nvPr/>
        </p:nvSpPr>
        <p:spPr>
          <a:xfrm>
            <a:off x="306134" y="3896973"/>
            <a:ext cx="1885445" cy="300082"/>
          </a:xfrm>
          <a:prstGeom prst="rect">
            <a:avLst/>
          </a:prstGeom>
          <a:noFill/>
        </p:spPr>
        <p:txBody>
          <a:bodyPr wrap="square" rtlCol="0">
            <a:spAutoFit/>
          </a:bodyPr>
          <a:lstStyle/>
          <a:p>
            <a:r>
              <a:rPr lang="en-US" sz="1350" dirty="0"/>
              <a:t>                   2   0   1   6</a:t>
            </a:r>
            <a:endParaRPr lang="en-IN" sz="1350" dirty="0"/>
          </a:p>
        </p:txBody>
      </p:sp>
      <p:sp>
        <p:nvSpPr>
          <p:cNvPr id="175" name="TextBox 174">
            <a:extLst>
              <a:ext uri="{FF2B5EF4-FFF2-40B4-BE49-F238E27FC236}">
                <a16:creationId xmlns:a16="http://schemas.microsoft.com/office/drawing/2014/main" id="{F68FECBD-5647-2162-FCC3-1581F48538F9}"/>
              </a:ext>
            </a:extLst>
          </p:cNvPr>
          <p:cNvSpPr txBox="1"/>
          <p:nvPr/>
        </p:nvSpPr>
        <p:spPr>
          <a:xfrm>
            <a:off x="6082603" y="2131445"/>
            <a:ext cx="1885445" cy="300082"/>
          </a:xfrm>
          <a:prstGeom prst="rect">
            <a:avLst/>
          </a:prstGeom>
          <a:noFill/>
        </p:spPr>
        <p:txBody>
          <a:bodyPr wrap="square" rtlCol="0">
            <a:spAutoFit/>
          </a:bodyPr>
          <a:lstStyle/>
          <a:p>
            <a:r>
              <a:rPr lang="en-US" sz="1350" dirty="0"/>
              <a:t>                          0   1   6</a:t>
            </a:r>
            <a:endParaRPr lang="en-IN" sz="1350" dirty="0"/>
          </a:p>
        </p:txBody>
      </p:sp>
      <p:sp>
        <p:nvSpPr>
          <p:cNvPr id="176" name="TextBox 175">
            <a:extLst>
              <a:ext uri="{FF2B5EF4-FFF2-40B4-BE49-F238E27FC236}">
                <a16:creationId xmlns:a16="http://schemas.microsoft.com/office/drawing/2014/main" id="{B7DE40CE-FE07-7123-D4C9-60C3DB9EEF20}"/>
              </a:ext>
            </a:extLst>
          </p:cNvPr>
          <p:cNvSpPr txBox="1"/>
          <p:nvPr/>
        </p:nvSpPr>
        <p:spPr>
          <a:xfrm>
            <a:off x="3211354" y="2131273"/>
            <a:ext cx="1885445" cy="300082"/>
          </a:xfrm>
          <a:prstGeom prst="rect">
            <a:avLst/>
          </a:prstGeom>
          <a:noFill/>
        </p:spPr>
        <p:txBody>
          <a:bodyPr wrap="square" rtlCol="0">
            <a:spAutoFit/>
          </a:bodyPr>
          <a:lstStyle/>
          <a:p>
            <a:r>
              <a:rPr lang="en-US" sz="1350" dirty="0"/>
              <a:t>                              1   6</a:t>
            </a:r>
            <a:endParaRPr lang="en-IN" sz="1350" dirty="0"/>
          </a:p>
        </p:txBody>
      </p:sp>
      <p:sp>
        <p:nvSpPr>
          <p:cNvPr id="177" name="TextBox 176">
            <a:extLst>
              <a:ext uri="{FF2B5EF4-FFF2-40B4-BE49-F238E27FC236}">
                <a16:creationId xmlns:a16="http://schemas.microsoft.com/office/drawing/2014/main" id="{1723B88E-E81C-CDC6-D013-31CE7920DAF6}"/>
              </a:ext>
            </a:extLst>
          </p:cNvPr>
          <p:cNvSpPr txBox="1"/>
          <p:nvPr/>
        </p:nvSpPr>
        <p:spPr>
          <a:xfrm>
            <a:off x="266655" y="2136844"/>
            <a:ext cx="1885445" cy="300082"/>
          </a:xfrm>
          <a:prstGeom prst="rect">
            <a:avLst/>
          </a:prstGeom>
          <a:noFill/>
        </p:spPr>
        <p:txBody>
          <a:bodyPr wrap="square" rtlCol="0">
            <a:spAutoFit/>
          </a:bodyPr>
          <a:lstStyle/>
          <a:p>
            <a:r>
              <a:rPr lang="en-US" sz="1350" dirty="0"/>
              <a:t>                                   6</a:t>
            </a:r>
            <a:endParaRPr lang="en-IN" sz="1350" dirty="0"/>
          </a:p>
        </p:txBody>
      </p:sp>
    </p:spTree>
    <p:extLst>
      <p:ext uri="{BB962C8B-B14F-4D97-AF65-F5344CB8AC3E}">
        <p14:creationId xmlns:p14="http://schemas.microsoft.com/office/powerpoint/2010/main" val="2834983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0F2512-8D18-9137-A329-E2B6F53DE1A2}"/>
              </a:ext>
            </a:extLst>
          </p:cNvPr>
          <p:cNvSpPr>
            <a:spLocks noGrp="1"/>
          </p:cNvSpPr>
          <p:nvPr>
            <p:ph idx="1"/>
          </p:nvPr>
        </p:nvSpPr>
        <p:spPr>
          <a:xfrm>
            <a:off x="628650" y="980728"/>
            <a:ext cx="7886700" cy="5196235"/>
          </a:xfrm>
        </p:spPr>
        <p:txBody>
          <a:bodyPr/>
          <a:lstStyle/>
          <a:p>
            <a:pPr>
              <a:lnSpc>
                <a:spcPct val="150000"/>
              </a:lnSpc>
            </a:pPr>
            <a:r>
              <a:rPr lang="en-US" sz="1800" dirty="0">
                <a:latin typeface="Times New Roman" panose="02020603050405020304" pitchFamily="18" charset="0"/>
                <a:cs typeface="Times New Roman" panose="02020603050405020304" pitchFamily="18" charset="0"/>
              </a:rPr>
              <a:t>The two numbers taken are 5312 and 3468</a:t>
            </a:r>
          </a:p>
          <a:p>
            <a:r>
              <a:rPr lang="en-US" sz="1800" dirty="0">
                <a:latin typeface="Times New Roman" panose="02020603050405020304" pitchFamily="18" charset="0"/>
                <a:cs typeface="Times New Roman" panose="02020603050405020304" pitchFamily="18" charset="0"/>
              </a:rPr>
              <a:t>Two is multiplied by eight, resulting in sixteen. Six is written, and one is carried.</a:t>
            </a:r>
          </a:p>
          <a:p>
            <a:r>
              <a:rPr lang="en-US" sz="1800" dirty="0">
                <a:latin typeface="Times New Roman" panose="02020603050405020304" pitchFamily="18" charset="0"/>
                <a:cs typeface="Times New Roman" panose="02020603050405020304" pitchFamily="18" charset="0"/>
              </a:rPr>
              <a:t>One is multiplied by eight and two by six, resulting in twenty. Adding carry gives twenty one. One is written, and two is carried.</a:t>
            </a:r>
          </a:p>
          <a:p>
            <a:r>
              <a:rPr lang="en-US" sz="1800" dirty="0">
                <a:latin typeface="Times New Roman" panose="02020603050405020304" pitchFamily="18" charset="0"/>
                <a:cs typeface="Times New Roman" panose="02020603050405020304" pitchFamily="18" charset="0"/>
              </a:rPr>
              <a:t>Three is multiplied by eight, one by six and two by four, resulting in thirty eight. Adding carry gives forty. Zero is written, and four is carried.</a:t>
            </a:r>
          </a:p>
          <a:p>
            <a:r>
              <a:rPr lang="en-US" sz="1800" dirty="0">
                <a:latin typeface="Times New Roman" panose="02020603050405020304" pitchFamily="18" charset="0"/>
                <a:cs typeface="Times New Roman" panose="02020603050405020304" pitchFamily="18" charset="0"/>
              </a:rPr>
              <a:t>Five is multiplied by eight, three by six, one by four and two by three, resulting in sixty eight. Adding carry gives seventy two. Two is written, and seven is carried.</a:t>
            </a:r>
          </a:p>
          <a:p>
            <a:r>
              <a:rPr lang="en-US" sz="1800" dirty="0">
                <a:latin typeface="Times New Roman" panose="02020603050405020304" pitchFamily="18" charset="0"/>
                <a:cs typeface="Times New Roman" panose="02020603050405020304" pitchFamily="18" charset="0"/>
              </a:rPr>
              <a:t>Five is multiplied by six, three by four and one by three, resulting in forty five</a:t>
            </a:r>
            <a:r>
              <a:rPr lang="en-US" dirty="0"/>
              <a:t>. </a:t>
            </a:r>
            <a:r>
              <a:rPr lang="en-US" sz="1800" dirty="0">
                <a:latin typeface="Times New Roman" panose="02020603050405020304" pitchFamily="18" charset="0"/>
                <a:cs typeface="Times New Roman" panose="02020603050405020304" pitchFamily="18" charset="0"/>
              </a:rPr>
              <a:t>Adding carry gives fifty two. Two is written, and five is carried.</a:t>
            </a:r>
          </a:p>
          <a:p>
            <a:r>
              <a:rPr lang="en-US" sz="1800" dirty="0">
                <a:latin typeface="Times New Roman" panose="02020603050405020304" pitchFamily="18" charset="0"/>
                <a:cs typeface="Times New Roman" panose="02020603050405020304" pitchFamily="18" charset="0"/>
              </a:rPr>
              <a:t>Five is multiplied by four and three by three, resulting in twenty nine. Adding carry gives thirty four. Four is written, and three is carried.</a:t>
            </a:r>
          </a:p>
          <a:p>
            <a:r>
              <a:rPr lang="en-US" sz="1800" dirty="0">
                <a:latin typeface="Times New Roman" panose="02020603050405020304" pitchFamily="18" charset="0"/>
                <a:cs typeface="Times New Roman" panose="02020603050405020304" pitchFamily="18" charset="0"/>
              </a:rPr>
              <a:t>Five is multiplied by three, resulting in fifteen. Adding carry gives eighteen. Eight is written, and one is carried. The final carry one is written.</a:t>
            </a:r>
          </a:p>
          <a:p>
            <a:r>
              <a:rPr lang="en-US" sz="1800" dirty="0">
                <a:latin typeface="Times New Roman" panose="02020603050405020304" pitchFamily="18" charset="0"/>
                <a:cs typeface="Times New Roman" panose="02020603050405020304" pitchFamily="18" charset="0"/>
              </a:rPr>
              <a:t>The final result obtained is 18422016.</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5C1E9D0-99E1-0CC2-7A9B-EAD8FDDB2A91}"/>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2EB68740-73CB-F8E2-4839-E5B2CA74FFDE}"/>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0ED62487-6F1B-BB36-F77C-E2631C22B009}"/>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912529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C1FEAE3-143C-B770-2195-A36A454905EA}"/>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C82CAE76-1972-2601-713B-25DA0FA7D93B}"/>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72F433BB-EF10-E8ED-311D-5EF5A17A59E4}"/>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5B9C5523-9BCC-C9DB-5925-3A3B8A5811D8}"/>
              </a:ext>
            </a:extLst>
          </p:cNvPr>
          <p:cNvSpPr>
            <a:spLocks noGrp="1"/>
          </p:cNvSpPr>
          <p:nvPr>
            <p:ph type="title"/>
          </p:nvPr>
        </p:nvSpPr>
        <p:spPr>
          <a:xfrm>
            <a:off x="628650" y="665647"/>
            <a:ext cx="7886700" cy="615602"/>
          </a:xfrm>
        </p:spPr>
        <p:txBody>
          <a:bodyPr>
            <a:normAutofit/>
          </a:bodyPr>
          <a:lstStyle/>
          <a:p>
            <a:pPr algn="ctr"/>
            <a:r>
              <a:rPr lang="en-IN" sz="3200" b="1" dirty="0">
                <a:latin typeface="Times New Roman" panose="02020603050405020304" pitchFamily="18" charset="0"/>
                <a:cs typeface="Times New Roman" pitchFamily="18" charset="0"/>
              </a:rPr>
              <a:t>BLOCK DIAGRAM</a:t>
            </a:r>
            <a:endParaRPr lang="en-US" sz="3200" b="1" dirty="0"/>
          </a:p>
        </p:txBody>
      </p:sp>
      <p:cxnSp>
        <p:nvCxnSpPr>
          <p:cNvPr id="10" name="Straight Connector 9">
            <a:extLst>
              <a:ext uri="{FF2B5EF4-FFF2-40B4-BE49-F238E27FC236}">
                <a16:creationId xmlns:a16="http://schemas.microsoft.com/office/drawing/2014/main" id="{95DE9942-0A84-86D0-BF4C-70A4CCBEE166}"/>
              </a:ext>
            </a:extLst>
          </p:cNvPr>
          <p:cNvCxnSpPr>
            <a:cxnSpLocks/>
          </p:cNvCxnSpPr>
          <p:nvPr/>
        </p:nvCxnSpPr>
        <p:spPr>
          <a:xfrm>
            <a:off x="1962724" y="3396171"/>
            <a:ext cx="0"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descr="A diagram of a computer program&#10;&#10;AI-generated content may be incorrect.">
            <a:extLst>
              <a:ext uri="{FF2B5EF4-FFF2-40B4-BE49-F238E27FC236}">
                <a16:creationId xmlns:a16="http://schemas.microsoft.com/office/drawing/2014/main" id="{57C4FA45-9F70-5153-0896-75E909E3506F}"/>
              </a:ext>
            </a:extLst>
          </p:cNvPr>
          <p:cNvPicPr>
            <a:picLocks noChangeAspect="1"/>
          </p:cNvPicPr>
          <p:nvPr/>
        </p:nvPicPr>
        <p:blipFill>
          <a:blip r:embed="rId2"/>
          <a:stretch>
            <a:fillRect/>
          </a:stretch>
        </p:blipFill>
        <p:spPr>
          <a:xfrm>
            <a:off x="899591" y="1484784"/>
            <a:ext cx="7488833" cy="4464496"/>
          </a:xfrm>
          <a:prstGeom prst="rect">
            <a:avLst/>
          </a:prstGeom>
        </p:spPr>
      </p:pic>
    </p:spTree>
    <p:extLst>
      <p:ext uri="{BB962C8B-B14F-4D97-AF65-F5344CB8AC3E}">
        <p14:creationId xmlns:p14="http://schemas.microsoft.com/office/powerpoint/2010/main" val="789779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3DF30-14C6-8572-AA95-0B4D687359E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20AF414-CA9B-D1D7-7D85-48547BDC8807}"/>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63DE9D7B-7744-87D6-B5B8-F7B3250920D5}"/>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1C5222F8-F716-F2AA-44C8-235482F13F00}"/>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611B824-63D0-CBA8-48FD-C2F3DF4BAD77}"/>
              </a:ext>
            </a:extLst>
          </p:cNvPr>
          <p:cNvSpPr>
            <a:spLocks noChangeArrowheads="1"/>
          </p:cNvSpPr>
          <p:nvPr/>
        </p:nvSpPr>
        <p:spPr bwMode="auto">
          <a:xfrm>
            <a:off x="628650" y="357967"/>
            <a:ext cx="8146475" cy="6142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lnSpc>
                <a:spcPct val="150000"/>
              </a:lnSpc>
              <a:spcBef>
                <a:spcPct val="0"/>
              </a:spcBef>
              <a:spcAft>
                <a:spcPct val="0"/>
              </a:spcAft>
            </a:pPr>
            <a:r>
              <a:rPr lang="en-US" sz="16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MODULES</a:t>
            </a:r>
            <a:endParaRPr lang="en-US" sz="1600" b="1"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MODULE 1: </a:t>
            </a:r>
            <a:r>
              <a:rPr lang="en-IN" b="1" dirty="0">
                <a:latin typeface="Times New Roman" panose="02020603050405020304" pitchFamily="18" charset="0"/>
                <a:cs typeface="Times New Roman" panose="02020603050405020304" pitchFamily="18" charset="0"/>
              </a:rPr>
              <a:t>2X2 VEDIC MULTIPIER</a:t>
            </a:r>
          </a:p>
          <a:p>
            <a:pPr marL="285750" indent="-285750" algn="just"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Implements the </a:t>
            </a:r>
            <a:r>
              <a:rPr lang="en-IN" dirty="0" err="1">
                <a:latin typeface="Times New Roman" panose="02020603050405020304" pitchFamily="18" charset="0"/>
                <a:cs typeface="Times New Roman" panose="02020603050405020304" pitchFamily="18" charset="0"/>
              </a:rPr>
              <a:t>Urdhva</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Tiryakbhyam</a:t>
            </a:r>
            <a:r>
              <a:rPr lang="en-IN" dirty="0">
                <a:latin typeface="Times New Roman" panose="02020603050405020304" pitchFamily="18" charset="0"/>
                <a:cs typeface="Times New Roman" panose="02020603050405020304" pitchFamily="18" charset="0"/>
              </a:rPr>
              <a:t> multiplication technique.</a:t>
            </a:r>
          </a:p>
          <a:p>
            <a:pPr marL="285750" indent="-285750" algn="just"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Generates partial products using simple logic operations</a:t>
            </a:r>
            <a:r>
              <a:rPr lang="en-IN" b="1" dirty="0">
                <a:latin typeface="Times New Roman" panose="02020603050405020304" pitchFamily="18" charset="0"/>
                <a:cs typeface="Times New Roman" panose="02020603050405020304" pitchFamily="18" charset="0"/>
              </a:rPr>
              <a:t>.</a:t>
            </a:r>
          </a:p>
          <a:p>
            <a:pPr marL="285750" indent="-285750" algn="just"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Provides faster computation compared to conventional multipliers.</a:t>
            </a:r>
            <a:endParaRPr lang="en-IN" b="1" dirty="0">
              <a:latin typeface="Times New Roman" panose="02020603050405020304" pitchFamily="18" charset="0"/>
              <a:cs typeface="Times New Roman" panose="02020603050405020304" pitchFamily="18" charset="0"/>
            </a:endParaRPr>
          </a:p>
          <a:p>
            <a:pPr marL="285750" indent="-285750" algn="just"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Acts as the basic building block for higher-bit Vedic multipliers.</a:t>
            </a:r>
            <a:endParaRPr lang="en-IN" b="1" dirty="0">
              <a:latin typeface="Times New Roman" panose="02020603050405020304" pitchFamily="18" charset="0"/>
              <a:cs typeface="Times New Roman" panose="02020603050405020304" pitchFamily="18" charset="0"/>
            </a:endParaRPr>
          </a:p>
          <a:p>
            <a:pPr marL="285750" indent="-285750" algn="just"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Requires minimal hardware resources for implementation.</a:t>
            </a:r>
            <a:endParaRPr lang="en-IN" b="1" dirty="0">
              <a:latin typeface="Times New Roman" panose="02020603050405020304" pitchFamily="18" charset="0"/>
              <a:cs typeface="Times New Roman" panose="02020603050405020304" pitchFamily="18" charset="0"/>
            </a:endParaRPr>
          </a:p>
          <a:p>
            <a:pPr marL="285750" indent="-285750" algn="just" eaLnBrk="0" fontAlgn="base" hangingPunct="0">
              <a:lnSpc>
                <a:spcPct val="150000"/>
              </a:lnSpc>
              <a:spcBef>
                <a:spcPct val="0"/>
              </a:spcBef>
              <a:spcAft>
                <a:spcPct val="0"/>
              </a:spcAft>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en-IN" b="1" dirty="0">
                <a:latin typeface="Times New Roman" panose="02020603050405020304" pitchFamily="18" charset="0"/>
                <a:cs typeface="Times New Roman" panose="02020603050405020304" pitchFamily="18" charset="0"/>
              </a:rPr>
              <a:t>MODULE 2: 4X4 VEDIC MULTIPLIER</a:t>
            </a:r>
          </a:p>
          <a:p>
            <a:pPr marL="285750" indent="-285750"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Constructed using four 2×2 Vedic multiplier blocks.</a:t>
            </a:r>
          </a:p>
          <a:p>
            <a:pPr marL="285750" indent="-285750"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Parallel generation of partial products.</a:t>
            </a:r>
            <a:endParaRPr lang="en-IN" b="1" dirty="0">
              <a:latin typeface="Times New Roman" panose="02020603050405020304" pitchFamily="18" charset="0"/>
              <a:cs typeface="Times New Roman" panose="02020603050405020304" pitchFamily="18" charset="0"/>
            </a:endParaRPr>
          </a:p>
          <a:p>
            <a:pPr marL="285750" indent="-285750"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Reduced computation delay.</a:t>
            </a:r>
            <a:endParaRPr lang="en-IN" b="1" dirty="0">
              <a:latin typeface="Times New Roman" panose="02020603050405020304" pitchFamily="18" charset="0"/>
              <a:cs typeface="Times New Roman" panose="02020603050405020304" pitchFamily="18" charset="0"/>
            </a:endParaRPr>
          </a:p>
          <a:p>
            <a:pPr marL="285750" indent="-285750" eaLnBrk="0" fontAlgn="base" hangingPunct="0">
              <a:lnSpc>
                <a:spcPct val="150000"/>
              </a:lnSpc>
              <a:spcBef>
                <a:spcPct val="0"/>
              </a:spcBef>
              <a:spcAft>
                <a:spcPct val="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Scalable architecture for higher-bit multipliers.</a:t>
            </a:r>
            <a:endParaRPr lang="en-IN" b="1" dirty="0">
              <a:latin typeface="Times New Roman" panose="02020603050405020304" pitchFamily="18" charset="0"/>
              <a:cs typeface="Times New Roman" panose="02020603050405020304" pitchFamily="18" charset="0"/>
            </a:endParaRPr>
          </a:p>
          <a:p>
            <a:pPr marL="285750" indent="-285750" eaLnBrk="0" fontAlgn="base" hangingPunct="0">
              <a:lnSpc>
                <a:spcPct val="150000"/>
              </a:lnSpc>
              <a:spcBef>
                <a:spcPct val="0"/>
              </a:spcBef>
              <a:spcAft>
                <a:spcPct val="0"/>
              </a:spcAf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p:txBody>
      </p:sp>
      <p:sp>
        <p:nvSpPr>
          <p:cNvPr id="10" name="Rectangle 5">
            <a:extLst>
              <a:ext uri="{FF2B5EF4-FFF2-40B4-BE49-F238E27FC236}">
                <a16:creationId xmlns:a16="http://schemas.microsoft.com/office/drawing/2014/main" id="{600034CA-689A-629A-4422-233FDF718160}"/>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7862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D8F34-E9AB-653F-A4FC-F9281A63A8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BA03E-960D-858A-8C54-7AB4C83C7309}"/>
              </a:ext>
            </a:extLst>
          </p:cNvPr>
          <p:cNvSpPr>
            <a:spLocks noGrp="1"/>
          </p:cNvSpPr>
          <p:nvPr>
            <p:ph idx="1"/>
          </p:nvPr>
        </p:nvSpPr>
        <p:spPr>
          <a:xfrm>
            <a:off x="539552" y="980728"/>
            <a:ext cx="7886700" cy="5112568"/>
          </a:xfrm>
        </p:spPr>
        <p:txBody>
          <a:bodyPr>
            <a:normAutofit lnSpcReduction="10000"/>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MODULE 3: 8X8 VEDIC MULTIPLIER</a:t>
            </a:r>
          </a:p>
          <a:p>
            <a:pPr lvl="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Constructed using four 4×4 Vedic multiplier modules.</a:t>
            </a:r>
          </a:p>
          <a:p>
            <a:pPr lvl="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Parallel generation of partial products.</a:t>
            </a:r>
          </a:p>
          <a:p>
            <a:pPr lvl="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Improved speed due to hierarchical design.</a:t>
            </a:r>
          </a:p>
          <a:p>
            <a:pPr lvl="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Produces a 16-bit multiplication output.</a:t>
            </a:r>
            <a:endParaRPr lang="en-US" sz="1800" b="1" dirty="0">
              <a:latin typeface="Times New Roman" panose="02020603050405020304" pitchFamily="18" charset="0"/>
              <a:cs typeface="Times New Roman" panose="02020603050405020304" pitchFamily="18" charset="0"/>
            </a:endParaRPr>
          </a:p>
          <a:p>
            <a:pPr marL="0" indent="0">
              <a:lnSpc>
                <a:spcPct val="150000"/>
              </a:lnSpc>
              <a:buNone/>
            </a:pPr>
            <a:r>
              <a:rPr lang="en-US" sz="1800" b="1" dirty="0">
                <a:latin typeface="Times New Roman" panose="02020603050405020304" pitchFamily="18" charset="0"/>
                <a:cs typeface="Times New Roman" panose="02020603050405020304" pitchFamily="18" charset="0"/>
              </a:rPr>
              <a:t>MODULE 4: 16X16 VEDIC MULTIPLIER</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Constructed using four 8×8 Vedic multiplier modules.</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Parallel generation of partial products.</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High-speed multiplication due to hierarchical architecture.</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Produces a 32-bit multiplication output.</a:t>
            </a:r>
          </a:p>
          <a:p>
            <a:pPr>
              <a:lnSpc>
                <a:spcPct val="150000"/>
              </a:lnSpc>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F8E0FF2-052B-6761-8BA8-99BE2A3EECC5}"/>
              </a:ext>
            </a:extLst>
          </p:cNvPr>
          <p:cNvSpPr>
            <a:spLocks noGrp="1"/>
          </p:cNvSpPr>
          <p:nvPr>
            <p:ph type="dt" sz="half" idx="10"/>
          </p:nvPr>
        </p:nvSpPr>
        <p:spPr>
          <a:xfrm>
            <a:off x="800100" y="6356351"/>
            <a:ext cx="2057400" cy="365125"/>
          </a:xfrm>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C7259E21-C702-3692-7772-09F58B5458D0}"/>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F2EE635F-2A62-F81A-D27A-8417FAEA1494}"/>
              </a:ext>
            </a:extLst>
          </p:cNvPr>
          <p:cNvSpPr>
            <a:spLocks noGrp="1"/>
          </p:cNvSpPr>
          <p:nvPr>
            <p:ph type="sldNum" sz="quarter" idx="12"/>
          </p:nvPr>
        </p:nvSpPr>
        <p:spPr>
          <a:xfrm>
            <a:off x="6516216" y="6237312"/>
            <a:ext cx="216024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8859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5828C-484D-5FAC-56BA-8A670B0323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79B798-4940-9B3D-D502-0B0B74360F2C}"/>
              </a:ext>
            </a:extLst>
          </p:cNvPr>
          <p:cNvSpPr>
            <a:spLocks noGrp="1"/>
          </p:cNvSpPr>
          <p:nvPr>
            <p:ph idx="1"/>
          </p:nvPr>
        </p:nvSpPr>
        <p:spPr>
          <a:xfrm>
            <a:off x="539552" y="872716"/>
            <a:ext cx="7886700" cy="5112568"/>
          </a:xfrm>
        </p:spPr>
        <p:txBody>
          <a:bodyPr>
            <a:normAutofit fontScale="92500" lnSpcReduction="10000"/>
          </a:bodyPr>
          <a:lstStyle/>
          <a:p>
            <a:pPr marL="0" indent="0">
              <a:lnSpc>
                <a:spcPct val="150000"/>
              </a:lnSpc>
              <a:buNone/>
            </a:pPr>
            <a:r>
              <a:rPr lang="en-US" sz="1900" b="1" dirty="0">
                <a:latin typeface="Times New Roman" panose="02020603050405020304" pitchFamily="18" charset="0"/>
                <a:cs typeface="Times New Roman" panose="02020603050405020304" pitchFamily="18" charset="0"/>
              </a:rPr>
              <a:t>MODULE 5: APB INTERFACED VEDIC MULTIPLIER</a:t>
            </a:r>
          </a:p>
          <a:p>
            <a:pPr lvl="0">
              <a:lnSpc>
                <a:spcPct val="16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Handles communication between the processor and multiplier unit.</a:t>
            </a:r>
          </a:p>
          <a:p>
            <a:pPr lvl="0">
              <a:lnSpc>
                <a:spcPct val="16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Supports APB read and write operations.</a:t>
            </a:r>
          </a:p>
          <a:p>
            <a:pPr lvl="0">
              <a:lnSpc>
                <a:spcPct val="16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Uses internal registers to store input operands.</a:t>
            </a:r>
          </a:p>
          <a:p>
            <a:pPr lvl="0">
              <a:lnSpc>
                <a:spcPct val="16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Provides multiplication result through the APB data bus.</a:t>
            </a:r>
            <a:endParaRPr lang="en-US" sz="1900" b="1" dirty="0">
              <a:latin typeface="Times New Roman" panose="02020603050405020304" pitchFamily="18" charset="0"/>
              <a:cs typeface="Times New Roman" panose="02020603050405020304" pitchFamily="18" charset="0"/>
            </a:endParaRPr>
          </a:p>
          <a:p>
            <a:pPr marL="0" indent="0">
              <a:lnSpc>
                <a:spcPct val="150000"/>
              </a:lnSpc>
              <a:buNone/>
            </a:pPr>
            <a:r>
              <a:rPr lang="en-US" sz="1900" b="1" dirty="0">
                <a:latin typeface="Times New Roman" panose="02020603050405020304" pitchFamily="18" charset="0"/>
                <a:cs typeface="Times New Roman" panose="02020603050405020304" pitchFamily="18" charset="0"/>
              </a:rPr>
              <a:t>MODULE 4: TESTBENCH</a:t>
            </a:r>
          </a:p>
          <a:p>
            <a:pPr lvl="0">
              <a:lnSpc>
                <a:spcPct val="15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Generates clock and reset signals for simulation.</a:t>
            </a:r>
          </a:p>
          <a:p>
            <a:pPr lvl="0">
              <a:lnSpc>
                <a:spcPct val="15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Performs APB read and write operations.</a:t>
            </a:r>
          </a:p>
          <a:p>
            <a:pPr lvl="0">
              <a:lnSpc>
                <a:spcPct val="15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Applies different test inputs to verify functionality.</a:t>
            </a:r>
          </a:p>
          <a:p>
            <a:pPr lvl="0">
              <a:lnSpc>
                <a:spcPct val="150000"/>
              </a:lnSpc>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Displays multiplication results during simulation</a:t>
            </a:r>
          </a:p>
          <a:p>
            <a:pPr>
              <a:lnSpc>
                <a:spcPct val="150000"/>
              </a:lnSpc>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387788C-F087-B6C4-B120-02222FB3FF7E}"/>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D4E601A7-D376-9C44-57FF-2BC0C7DA0CEE}"/>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C7068787-1B1D-0EAA-7D60-EF134310DBCA}"/>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3552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67000"/>
            <a:ext cx="7886700" cy="648071"/>
          </a:xfrm>
        </p:spPr>
        <p:txBody>
          <a:bodyPr>
            <a:normAutofit fontScale="90000"/>
          </a:bodyPr>
          <a:lstStyle/>
          <a:p>
            <a:pPr algn="ctr"/>
            <a:r>
              <a:rPr lang="en-IN" sz="3200" b="1" dirty="0">
                <a:latin typeface="Times  new roman"/>
              </a:rPr>
              <a:t>        </a:t>
            </a:r>
            <a:r>
              <a:rPr lang="en-US" sz="3200" b="1" dirty="0">
                <a:latin typeface="Times New Roman" panose="02020603050405020304" pitchFamily="18" charset="0"/>
                <a:cs typeface="Times New Roman" panose="02020603050405020304" pitchFamily="18" charset="0"/>
              </a:rPr>
              <a:t>FUNCTIONAL &amp; NON-FUNCTIONAL         REQUIREMENTS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310505"/>
            <a:ext cx="7886700" cy="5075929"/>
          </a:xfrm>
        </p:spPr>
        <p:txBody>
          <a:bodyPr>
            <a:normAutofit fontScale="47500" lnSpcReduction="20000"/>
          </a:bodyPr>
          <a:lstStyle/>
          <a:p>
            <a:pPr>
              <a:lnSpc>
                <a:spcPct val="150000"/>
              </a:lnSpc>
            </a:pPr>
            <a:r>
              <a:rPr lang="en-US" sz="3400" b="1" dirty="0">
                <a:latin typeface="Times New Roman" panose="02020603050405020304" pitchFamily="18" charset="0"/>
                <a:cs typeface="Times New Roman" panose="02020603050405020304" pitchFamily="18" charset="0"/>
              </a:rPr>
              <a:t>FUNCTIONAL REQUIREMENTS</a:t>
            </a:r>
          </a:p>
          <a:p>
            <a:pPr marL="742950" lvl="1" indent="-285750">
              <a:lnSpc>
                <a:spcPct val="150000"/>
              </a:lnSpc>
              <a:buFont typeface="Wingdings" panose="05000000000000000000" pitchFamily="2" charset="2"/>
              <a:buChar char="Ø"/>
            </a:pPr>
            <a:r>
              <a:rPr lang="en-IN" sz="3400" dirty="0">
                <a:latin typeface="Times New Roman" panose="02020603050405020304" pitchFamily="18" charset="0"/>
                <a:cs typeface="Times New Roman" panose="02020603050405020304" pitchFamily="18" charset="0"/>
              </a:rPr>
              <a:t>Capture input operands via APB interface.</a:t>
            </a:r>
          </a:p>
          <a:p>
            <a:pPr marL="742950" lvl="1" indent="-285750">
              <a:lnSpc>
                <a:spcPct val="150000"/>
              </a:lnSpc>
              <a:buFont typeface="Wingdings" panose="05000000000000000000" pitchFamily="2" charset="2"/>
              <a:buChar char="Ø"/>
            </a:pPr>
            <a:r>
              <a:rPr lang="en-IN" sz="3400" dirty="0">
                <a:latin typeface="Times New Roman" panose="02020603050405020304" pitchFamily="18" charset="0"/>
                <a:cs typeface="Times New Roman" panose="02020603050405020304" pitchFamily="18" charset="0"/>
              </a:rPr>
              <a:t>Process data using Vedic multiplication logic.</a:t>
            </a:r>
          </a:p>
          <a:p>
            <a:pPr marL="742950" lvl="1" indent="-285750">
              <a:lnSpc>
                <a:spcPct val="150000"/>
              </a:lnSpc>
              <a:buFont typeface="Wingdings" panose="05000000000000000000" pitchFamily="2" charset="2"/>
              <a:buChar char="Ø"/>
            </a:pPr>
            <a:r>
              <a:rPr lang="en-IN" sz="3400" dirty="0">
                <a:latin typeface="Times New Roman" panose="02020603050405020304" pitchFamily="18" charset="0"/>
                <a:cs typeface="Times New Roman" panose="02020603050405020304" pitchFamily="18" charset="0"/>
              </a:rPr>
              <a:t>Compute high-speed 16-bit multiplication.</a:t>
            </a:r>
          </a:p>
          <a:p>
            <a:pPr marL="742950" lvl="1" indent="-285750">
              <a:lnSpc>
                <a:spcPct val="150000"/>
              </a:lnSpc>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Store computed results in registers.</a:t>
            </a:r>
          </a:p>
          <a:p>
            <a:pPr marL="742950" lvl="1" indent="-285750">
              <a:lnSpc>
                <a:spcPct val="150000"/>
              </a:lnSpc>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Display/read output through APB read operation.</a:t>
            </a:r>
          </a:p>
          <a:p>
            <a:pPr marL="742950" lvl="1" indent="-285750">
              <a:lnSpc>
                <a:spcPct val="150000"/>
              </a:lnSpc>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Reset and control the operation using control signals.</a:t>
            </a:r>
          </a:p>
          <a:p>
            <a:pPr>
              <a:lnSpc>
                <a:spcPct val="150000"/>
              </a:lnSpc>
            </a:pPr>
            <a:r>
              <a:rPr lang="en-US" sz="3400" b="1" dirty="0">
                <a:latin typeface="Times New Roman" panose="02020603050405020304" pitchFamily="18" charset="0"/>
                <a:cs typeface="Times New Roman" panose="02020603050405020304" pitchFamily="18" charset="0"/>
              </a:rPr>
              <a:t>NON-FUNCTIONAL REQUIREMENTS</a:t>
            </a:r>
          </a:p>
          <a:p>
            <a:pPr marL="742950" lvl="1" indent="-285750">
              <a:lnSpc>
                <a:spcPct val="150000"/>
              </a:lnSpc>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High performance and low latency.</a:t>
            </a:r>
          </a:p>
          <a:p>
            <a:pPr marL="742950" lvl="1" indent="-285750">
              <a:lnSpc>
                <a:spcPct val="150000"/>
              </a:lnSpc>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Low power and area efficient design.</a:t>
            </a:r>
          </a:p>
          <a:p>
            <a:pPr marL="742950" lvl="1" indent="-285750">
              <a:lnSpc>
                <a:spcPct val="150000"/>
              </a:lnSpc>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Scalable for different bit widths.</a:t>
            </a:r>
          </a:p>
          <a:p>
            <a:pPr marL="742950" lvl="1" indent="-285750">
              <a:lnSpc>
                <a:spcPct val="150000"/>
              </a:lnSpc>
              <a:buFont typeface="Wingdings" panose="05000000000000000000" pitchFamily="2" charset="2"/>
              <a:buChar char="Ø"/>
            </a:pPr>
            <a:r>
              <a:rPr lang="en-IN" sz="3400" dirty="0">
                <a:latin typeface="Times New Roman" panose="02020603050405020304" pitchFamily="18" charset="0"/>
                <a:cs typeface="Times New Roman" panose="02020603050405020304" pitchFamily="18" charset="0"/>
              </a:rPr>
              <a:t>Protocol-compliant APB interface.</a:t>
            </a:r>
          </a:p>
          <a:p>
            <a:pPr marL="742950" lvl="1" indent="-285750">
              <a:lnSpc>
                <a:spcPct val="150000"/>
              </a:lnSpc>
              <a:buFont typeface="Wingdings" panose="05000000000000000000" pitchFamily="2" charset="2"/>
              <a:buChar char="Ø"/>
            </a:pPr>
            <a:r>
              <a:rPr lang="en-IN" sz="3400" dirty="0">
                <a:latin typeface="Times New Roman" panose="02020603050405020304" pitchFamily="18" charset="0"/>
                <a:cs typeface="Times New Roman" panose="02020603050405020304" pitchFamily="18" charset="0"/>
              </a:rPr>
              <a:t>Reliable and accurate operation</a:t>
            </a:r>
          </a:p>
          <a:p>
            <a:pPr marL="0" indent="0">
              <a:lnSpc>
                <a:spcPct val="150000"/>
              </a:lnSpc>
              <a:buNone/>
            </a:pPr>
            <a:endParaRPr lang="en-US" sz="3000" dirty="0"/>
          </a:p>
          <a:p>
            <a:pPr marL="0" indent="0">
              <a:lnSpc>
                <a:spcPct val="150000"/>
              </a:lnSpc>
              <a:buNone/>
            </a:pPr>
            <a:endParaRPr lang="en-US" sz="3000" dirty="0"/>
          </a:p>
          <a:p>
            <a:pPr marL="0" indent="0">
              <a:lnSpc>
                <a:spcPct val="150000"/>
              </a:lnSpc>
              <a:buNone/>
            </a:pPr>
            <a:endParaRPr lang="en-US" sz="3000" dirty="0"/>
          </a:p>
          <a:p>
            <a:pPr marL="0" indent="0">
              <a:lnSpc>
                <a:spcPct val="150000"/>
              </a:lnSpc>
              <a:buNone/>
            </a:pPr>
            <a:endParaRPr lang="en-US" sz="2000" dirty="0"/>
          </a:p>
          <a:p>
            <a:pPr marL="0" indent="0">
              <a:lnSpc>
                <a:spcPct val="150000"/>
              </a:lnSpc>
              <a:buNone/>
            </a:pPr>
            <a:endParaRPr lang="en-US" sz="2000" dirty="0"/>
          </a:p>
          <a:p>
            <a:pPr>
              <a:lnSpc>
                <a:spcPct val="150000"/>
              </a:lnSpc>
              <a:buFont typeface="Wingdings" panose="05000000000000000000" pitchFamily="2" charset="2"/>
              <a:buChar char="Ø"/>
            </a:pPr>
            <a:endParaRPr lang="en-US" sz="2000" dirty="0"/>
          </a:p>
          <a:p>
            <a:pPr>
              <a:lnSpc>
                <a:spcPct val="150000"/>
              </a:lnSpc>
              <a:buFont typeface="Wingdings" panose="05000000000000000000" pitchFamily="2" charset="2"/>
              <a:buChar char="Ø"/>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IN" dirty="0"/>
          </a:p>
          <a:p>
            <a:pPr marL="0" indent="0">
              <a:buNone/>
            </a:pPr>
            <a:endParaRPr lang="en-IN" dirty="0"/>
          </a:p>
        </p:txBody>
      </p:sp>
      <p:sp>
        <p:nvSpPr>
          <p:cNvPr id="4" name="Date Placeholder 3"/>
          <p:cNvSpPr>
            <a:spLocks noGrp="1"/>
          </p:cNvSpPr>
          <p:nvPr>
            <p:ph type="dt" sz="half" idx="10"/>
          </p:nvPr>
        </p:nvSpPr>
        <p:spPr/>
        <p:txBody>
          <a:bodyPr/>
          <a:lstStyle/>
          <a:p>
            <a:endParaRPr lang="en-US" dirty="0">
              <a:latin typeface="Times  new roman"/>
            </a:endParaRPr>
          </a:p>
          <a:p>
            <a:r>
              <a:rPr lang="en-US" dirty="0">
                <a:latin typeface="Times  new roman"/>
              </a:rPr>
              <a:t>24/04/2026</a:t>
            </a:r>
          </a:p>
          <a:p>
            <a:endParaRPr lang="en-US" dirty="0"/>
          </a:p>
        </p:txBody>
      </p:sp>
      <p:sp>
        <p:nvSpPr>
          <p:cNvPr id="5" name="Footer Placeholder 4"/>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t>17</a:t>
            </a:fld>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BC23-EA2F-D4B1-1122-7FC67787DF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257C1F-5DE3-D962-E709-A0AD1CD0AF70}"/>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30D11B99-5D96-7B7F-74DD-72CA7012FC0A}"/>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B07A4B41-E0A2-0A05-76EE-A67FBA98DEBC}"/>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18</a:t>
            </a:fld>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2FDF79C-CEDF-7B45-981E-3DF912C38D98}"/>
              </a:ext>
            </a:extLst>
          </p:cNvPr>
          <p:cNvSpPr txBox="1"/>
          <p:nvPr/>
        </p:nvSpPr>
        <p:spPr>
          <a:xfrm>
            <a:off x="1763688" y="764704"/>
            <a:ext cx="5837262"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BASIC USER INTERFACE</a:t>
            </a:r>
          </a:p>
        </p:txBody>
      </p:sp>
      <p:pic>
        <p:nvPicPr>
          <p:cNvPr id="13" name="Content Placeholder 7">
            <a:extLst>
              <a:ext uri="{FF2B5EF4-FFF2-40B4-BE49-F238E27FC236}">
                <a16:creationId xmlns:a16="http://schemas.microsoft.com/office/drawing/2014/main" id="{2376FF43-C2F4-D3FA-D760-1FD7F2A6C05D}"/>
              </a:ext>
            </a:extLst>
          </p:cNvPr>
          <p:cNvPicPr>
            <a:picLocks noChangeAspect="1"/>
          </p:cNvPicPr>
          <p:nvPr/>
        </p:nvPicPr>
        <p:blipFill>
          <a:blip r:embed="rId2"/>
          <a:stretch>
            <a:fillRect/>
          </a:stretch>
        </p:blipFill>
        <p:spPr>
          <a:xfrm>
            <a:off x="1403648" y="1362921"/>
            <a:ext cx="6696744" cy="4979988"/>
          </a:xfrm>
          <a:prstGeom prst="rect">
            <a:avLst/>
          </a:prstGeom>
        </p:spPr>
      </p:pic>
    </p:spTree>
    <p:extLst>
      <p:ext uri="{BB962C8B-B14F-4D97-AF65-F5344CB8AC3E}">
        <p14:creationId xmlns:p14="http://schemas.microsoft.com/office/powerpoint/2010/main" val="3108497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37764B5-D9B6-7D9D-4665-4EBC0AEBFEBC}"/>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668263B5-9ABD-C698-5DEC-648352CEB8C1}"/>
              </a:ext>
            </a:extLst>
          </p:cNvPr>
          <p:cNvSpPr>
            <a:spLocks noGrp="1"/>
          </p:cNvSpPr>
          <p:nvPr>
            <p:ph type="ftr" sz="quarter" idx="11"/>
          </p:nvPr>
        </p:nvSpPr>
        <p:spPr>
          <a:xfrm>
            <a:off x="3028950" y="6376243"/>
            <a:ext cx="3086100" cy="365125"/>
          </a:xfrm>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EB4AF756-461D-DE92-D85A-D8F2ED5221CD}"/>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19</a:t>
            </a:fld>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EE6A80-95D8-AB8C-B66B-FF49773C0153}"/>
              </a:ext>
            </a:extLst>
          </p:cNvPr>
          <p:cNvSpPr>
            <a:spLocks noGrp="1"/>
          </p:cNvSpPr>
          <p:nvPr>
            <p:ph idx="1"/>
          </p:nvPr>
        </p:nvSpPr>
        <p:spPr>
          <a:xfrm>
            <a:off x="827584" y="1412776"/>
            <a:ext cx="7886700" cy="3919290"/>
          </a:xfrm>
        </p:spPr>
        <p:txBody>
          <a:bodyPr>
            <a:normAutofit/>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User : </a:t>
            </a:r>
            <a:r>
              <a:rPr lang="en-US" sz="1800" dirty="0">
                <a:latin typeface="Times New Roman" panose="02020603050405020304" pitchFamily="18" charset="0"/>
                <a:cs typeface="Times New Roman" panose="02020603050405020304" pitchFamily="18" charset="0"/>
              </a:rPr>
              <a:t>Provides input operands and control signals.</a:t>
            </a: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Control &amp; Data Input (APB Write): </a:t>
            </a:r>
            <a:r>
              <a:rPr lang="en-US" sz="1800" dirty="0">
                <a:latin typeface="Times New Roman" panose="02020603050405020304" pitchFamily="18" charset="0"/>
                <a:cs typeface="Times New Roman" panose="02020603050405020304" pitchFamily="18" charset="0"/>
              </a:rPr>
              <a:t>Sends user data and commands to the bus.</a:t>
            </a: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APB Bus: </a:t>
            </a:r>
            <a:r>
              <a:rPr lang="en-US" sz="1800" dirty="0">
                <a:latin typeface="Times New Roman" panose="02020603050405020304" pitchFamily="18" charset="0"/>
                <a:cs typeface="Times New Roman" panose="02020603050405020304" pitchFamily="18" charset="0"/>
              </a:rPr>
              <a:t>Transfers data and control signals to the APB slave.</a:t>
            </a: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APB Slave: </a:t>
            </a:r>
            <a:r>
              <a:rPr lang="en-US" sz="1800" dirty="0">
                <a:latin typeface="Times New Roman" panose="02020603050405020304" pitchFamily="18" charset="0"/>
                <a:cs typeface="Times New Roman" panose="02020603050405020304" pitchFamily="18" charset="0"/>
              </a:rPr>
              <a:t>Receives data from the bus and interfaces with the multiplier.</a:t>
            </a: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Vedic Multiplier: </a:t>
            </a:r>
            <a:r>
              <a:rPr lang="en-US" sz="1800" dirty="0">
                <a:latin typeface="Times New Roman" panose="02020603050405020304" pitchFamily="18" charset="0"/>
                <a:cs typeface="Times New Roman" panose="02020603050405020304" pitchFamily="18" charset="0"/>
              </a:rPr>
              <a:t>Performs fast multiplication of input operands.</a:t>
            </a: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Status &amp; Output Display (APB Read): </a:t>
            </a:r>
            <a:r>
              <a:rPr lang="en-US" sz="1800" dirty="0">
                <a:latin typeface="Times New Roman" panose="02020603050405020304" pitchFamily="18" charset="0"/>
                <a:cs typeface="Times New Roman" panose="02020603050405020304" pitchFamily="18" charset="0"/>
              </a:rPr>
              <a:t>Shows multiplication result and system status.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3459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4384A-7F3C-FA3C-C75A-76079980869F}"/>
              </a:ext>
            </a:extLst>
          </p:cNvPr>
          <p:cNvSpPr>
            <a:spLocks noGrp="1"/>
          </p:cNvSpPr>
          <p:nvPr>
            <p:ph type="title"/>
          </p:nvPr>
        </p:nvSpPr>
        <p:spPr>
          <a:xfrm>
            <a:off x="628650" y="365127"/>
            <a:ext cx="7886700" cy="759617"/>
          </a:xfrm>
        </p:spPr>
        <p:txBody>
          <a:bodyPr>
            <a:normAutofit/>
          </a:bodyPr>
          <a:lstStyle/>
          <a:p>
            <a:pPr algn="ctr"/>
            <a:r>
              <a:rPr lang="en-IN" sz="2800"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10633769-A73E-0B0E-C1F7-191C202A670F}"/>
              </a:ext>
            </a:extLst>
          </p:cNvPr>
          <p:cNvSpPr>
            <a:spLocks noGrp="1"/>
          </p:cNvSpPr>
          <p:nvPr>
            <p:ph idx="1"/>
          </p:nvPr>
        </p:nvSpPr>
        <p:spPr>
          <a:xfrm>
            <a:off x="628650" y="1484784"/>
            <a:ext cx="7886700" cy="4692179"/>
          </a:xfrm>
        </p:spPr>
        <p:txBody>
          <a:bodyPr>
            <a:normAutofit/>
          </a:bodyPr>
          <a:lstStyle/>
          <a:p>
            <a:pPr marL="0" indent="0" algn="ctr">
              <a:buNone/>
            </a:pPr>
            <a:r>
              <a:rPr lang="en-IN" sz="2400" b="1" dirty="0">
                <a:latin typeface="Times New Roman" panose="02020603050405020304" pitchFamily="18" charset="0"/>
                <a:cs typeface="Times New Roman" panose="02020603050405020304" pitchFamily="18" charset="0"/>
              </a:rPr>
              <a:t>Simulation Waveform without Interfacing</a:t>
            </a:r>
          </a:p>
        </p:txBody>
      </p:sp>
      <p:sp>
        <p:nvSpPr>
          <p:cNvPr id="4" name="Date Placeholder 3">
            <a:extLst>
              <a:ext uri="{FF2B5EF4-FFF2-40B4-BE49-F238E27FC236}">
                <a16:creationId xmlns:a16="http://schemas.microsoft.com/office/drawing/2014/main" id="{36759FEB-95C4-8E46-91E4-3E973BB15BE8}"/>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D5ABFAE5-3D1B-28C7-1C4C-D1932A6BACD4}"/>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CF1A8EAA-1217-4DCA-05D0-24AA5C531E11}"/>
              </a:ext>
            </a:extLst>
          </p:cNvPr>
          <p:cNvSpPr>
            <a:spLocks noGrp="1"/>
          </p:cNvSpPr>
          <p:nvPr>
            <p:ph type="sldNum" sz="quarter" idx="12"/>
          </p:nvPr>
        </p:nvSpPr>
        <p:spPr/>
        <p:txBody>
          <a:bodyPr/>
          <a:lstStyle/>
          <a:p>
            <a:fld id="{B6F15528-21DE-4FAA-801E-634DDDAF4B2B}" type="slidenum">
              <a:rPr lang="en-US" smtClean="0"/>
              <a:pPr/>
              <a:t>20</a:t>
            </a:fld>
            <a:endParaRPr lang="en-US"/>
          </a:p>
        </p:txBody>
      </p:sp>
      <p:pic>
        <p:nvPicPr>
          <p:cNvPr id="8" name="Image 125">
            <a:extLst>
              <a:ext uri="{FF2B5EF4-FFF2-40B4-BE49-F238E27FC236}">
                <a16:creationId xmlns:a16="http://schemas.microsoft.com/office/drawing/2014/main" id="{CF94F22A-1E1A-94E5-55FD-1649FA8E06BD}"/>
              </a:ext>
            </a:extLst>
          </p:cNvPr>
          <p:cNvPicPr>
            <a:picLocks/>
          </p:cNvPicPr>
          <p:nvPr/>
        </p:nvPicPr>
        <p:blipFill>
          <a:blip r:embed="rId2" cstate="print"/>
          <a:stretch>
            <a:fillRect/>
          </a:stretch>
        </p:blipFill>
        <p:spPr>
          <a:xfrm>
            <a:off x="1755140" y="2472690"/>
            <a:ext cx="5553164" cy="2108438"/>
          </a:xfrm>
          <a:prstGeom prst="rect">
            <a:avLst/>
          </a:prstGeom>
        </p:spPr>
      </p:pic>
    </p:spTree>
    <p:extLst>
      <p:ext uri="{BB962C8B-B14F-4D97-AF65-F5344CB8AC3E}">
        <p14:creationId xmlns:p14="http://schemas.microsoft.com/office/powerpoint/2010/main" val="2645811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0F5E0-13F4-EDEE-EACD-BE8D22A127DF}"/>
              </a:ext>
            </a:extLst>
          </p:cNvPr>
          <p:cNvSpPr>
            <a:spLocks noGrp="1"/>
          </p:cNvSpPr>
          <p:nvPr>
            <p:ph type="title"/>
          </p:nvPr>
        </p:nvSpPr>
        <p:spPr>
          <a:xfrm>
            <a:off x="614394" y="681037"/>
            <a:ext cx="7886700" cy="587724"/>
          </a:xfrm>
        </p:spPr>
        <p:txBody>
          <a:bodyPr>
            <a:normAutofit/>
          </a:bodyPr>
          <a:lstStyle/>
          <a:p>
            <a:pPr algn="ctr"/>
            <a:r>
              <a:rPr lang="en-IN" sz="2400" b="1" dirty="0">
                <a:latin typeface="Times New Roman" panose="02020603050405020304" pitchFamily="18" charset="0"/>
                <a:cs typeface="Times New Roman" panose="02020603050405020304" pitchFamily="18" charset="0"/>
              </a:rPr>
              <a:t>Synthesized Schematic Diagram without Interfacing</a:t>
            </a:r>
          </a:p>
        </p:txBody>
      </p:sp>
      <p:sp>
        <p:nvSpPr>
          <p:cNvPr id="4" name="Date Placeholder 3">
            <a:extLst>
              <a:ext uri="{FF2B5EF4-FFF2-40B4-BE49-F238E27FC236}">
                <a16:creationId xmlns:a16="http://schemas.microsoft.com/office/drawing/2014/main" id="{7B2DBE5B-1961-DFFE-83C6-FA6C9A4CE07A}"/>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832AC492-A898-D77D-86E9-EE2F1D0335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EDF296F7-3E48-1EF0-039B-FB0D96BD7295}"/>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7" name="Image 122">
            <a:extLst>
              <a:ext uri="{FF2B5EF4-FFF2-40B4-BE49-F238E27FC236}">
                <a16:creationId xmlns:a16="http://schemas.microsoft.com/office/drawing/2014/main" id="{F1DBAEAA-BD3F-6D8C-C0F2-4CE1E6101D22}"/>
              </a:ext>
            </a:extLst>
          </p:cNvPr>
          <p:cNvPicPr>
            <a:picLocks noGrp="1"/>
          </p:cNvPicPr>
          <p:nvPr>
            <p:ph idx="1"/>
          </p:nvPr>
        </p:nvPicPr>
        <p:blipFill>
          <a:blip r:embed="rId2" cstate="print"/>
          <a:stretch>
            <a:fillRect/>
          </a:stretch>
        </p:blipFill>
        <p:spPr>
          <a:xfrm>
            <a:off x="2046293" y="1825625"/>
            <a:ext cx="5051413" cy="4351338"/>
          </a:xfrm>
          <a:prstGeom prst="rect">
            <a:avLst/>
          </a:prstGeom>
        </p:spPr>
      </p:pic>
    </p:spTree>
    <p:extLst>
      <p:ext uri="{BB962C8B-B14F-4D97-AF65-F5344CB8AC3E}">
        <p14:creationId xmlns:p14="http://schemas.microsoft.com/office/powerpoint/2010/main" val="3000047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A48734-F5F3-A93C-3D09-997A25F3F41D}"/>
              </a:ext>
            </a:extLst>
          </p:cNvPr>
          <p:cNvSpPr>
            <a:spLocks noGrp="1"/>
          </p:cNvSpPr>
          <p:nvPr>
            <p:ph idx="1"/>
          </p:nvPr>
        </p:nvSpPr>
        <p:spPr>
          <a:xfrm>
            <a:off x="658873" y="764705"/>
            <a:ext cx="7886700" cy="5256583"/>
          </a:xfrm>
        </p:spPr>
        <p:txBody>
          <a:bodyPr>
            <a:normAutofit/>
          </a:bodyPr>
          <a:lstStyle/>
          <a:p>
            <a:pPr marL="0" indent="0">
              <a:buNone/>
            </a:pPr>
            <a:endParaRPr lang="en-IN" b="1" dirty="0">
              <a:latin typeface="Times New Roman" panose="02020603050405020304" pitchFamily="18" charset="0"/>
              <a:cs typeface="Times New Roman" panose="02020603050405020304" pitchFamily="18" charset="0"/>
            </a:endParaRPr>
          </a:p>
          <a:p>
            <a:pPr marL="0" indent="0" algn="ctr">
              <a:buNone/>
            </a:pPr>
            <a:r>
              <a:rPr lang="en-IN" sz="2400" b="1" dirty="0">
                <a:latin typeface="Times New Roman" panose="02020603050405020304" pitchFamily="18" charset="0"/>
                <a:cs typeface="Times New Roman" panose="02020603050405020304" pitchFamily="18" charset="0"/>
              </a:rPr>
              <a:t>    Simulation Waveform with APB Interfacing</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sz="16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2B9DE35-CBA9-16DA-BBF5-EDC43F89B6C3}"/>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77DD9F56-3EA9-17C3-C721-0A5F5DE39744}"/>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r>
              <a:rPr lang="en-US" dirty="0"/>
              <a:t>)</a:t>
            </a:r>
          </a:p>
        </p:txBody>
      </p:sp>
      <p:sp>
        <p:nvSpPr>
          <p:cNvPr id="6" name="Slide Number Placeholder 5">
            <a:extLst>
              <a:ext uri="{FF2B5EF4-FFF2-40B4-BE49-F238E27FC236}">
                <a16:creationId xmlns:a16="http://schemas.microsoft.com/office/drawing/2014/main" id="{61EF7B74-3C54-AA89-A0EC-9D60CE920278}"/>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t>22</a:t>
            </a:fld>
            <a:endParaRPr lang="en-US" dirty="0">
              <a:latin typeface="Times New Roman" panose="02020603050405020304" pitchFamily="18" charset="0"/>
              <a:cs typeface="Times New Roman" panose="02020603050405020304" pitchFamily="18" charset="0"/>
            </a:endParaRPr>
          </a:p>
        </p:txBody>
      </p:sp>
      <p:pic>
        <p:nvPicPr>
          <p:cNvPr id="7" name="Picture 741882078">
            <a:extLst>
              <a:ext uri="{FF2B5EF4-FFF2-40B4-BE49-F238E27FC236}">
                <a16:creationId xmlns:a16="http://schemas.microsoft.com/office/drawing/2014/main" id="{7F2EA16C-2AD7-2394-E20A-7B307AE77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204864"/>
            <a:ext cx="7886700"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610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B34D-C2F0-1B32-E44B-F135921D52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30596-DFE0-B988-D2EE-F7E733107BFF}"/>
              </a:ext>
            </a:extLst>
          </p:cNvPr>
          <p:cNvSpPr>
            <a:spLocks noGrp="1"/>
          </p:cNvSpPr>
          <p:nvPr>
            <p:ph idx="1"/>
          </p:nvPr>
        </p:nvSpPr>
        <p:spPr>
          <a:xfrm>
            <a:off x="658873" y="2780928"/>
            <a:ext cx="7886700" cy="3784354"/>
          </a:xfrm>
        </p:spPr>
        <p:txBody>
          <a:bodyPr>
            <a:normAutofit/>
          </a:bodyPr>
          <a:lstStyle/>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                                  </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sz="16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7797B8C-28AD-11B5-91A7-8257FD40737F}"/>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50DB77B2-48F7-2280-A9DC-E5868C973C57}"/>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r>
              <a:rPr lang="en-US" dirty="0"/>
              <a:t>)</a:t>
            </a:r>
          </a:p>
        </p:txBody>
      </p:sp>
      <p:sp>
        <p:nvSpPr>
          <p:cNvPr id="6" name="Slide Number Placeholder 5">
            <a:extLst>
              <a:ext uri="{FF2B5EF4-FFF2-40B4-BE49-F238E27FC236}">
                <a16:creationId xmlns:a16="http://schemas.microsoft.com/office/drawing/2014/main" id="{1C49DB53-4546-86AC-F924-540246D41F00}"/>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t>23</a:t>
            </a:fld>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871743C-ECE1-3C6D-7284-104DACABB198}"/>
              </a:ext>
            </a:extLst>
          </p:cNvPr>
          <p:cNvPicPr/>
          <p:nvPr/>
        </p:nvPicPr>
        <p:blipFill>
          <a:blip r:embed="rId2"/>
          <a:stretch>
            <a:fillRect/>
          </a:stretch>
        </p:blipFill>
        <p:spPr>
          <a:xfrm>
            <a:off x="971600" y="1916832"/>
            <a:ext cx="7128792" cy="4104456"/>
          </a:xfrm>
          <a:prstGeom prst="rect">
            <a:avLst/>
          </a:prstGeom>
        </p:spPr>
      </p:pic>
      <p:sp>
        <p:nvSpPr>
          <p:cNvPr id="11" name="TextBox 10">
            <a:extLst>
              <a:ext uri="{FF2B5EF4-FFF2-40B4-BE49-F238E27FC236}">
                <a16:creationId xmlns:a16="http://schemas.microsoft.com/office/drawing/2014/main" id="{A1C39132-1BD9-420D-8DD1-DA5D9360CBBA}"/>
              </a:ext>
            </a:extLst>
          </p:cNvPr>
          <p:cNvSpPr txBox="1"/>
          <p:nvPr/>
        </p:nvSpPr>
        <p:spPr>
          <a:xfrm>
            <a:off x="802889" y="1124744"/>
            <a:ext cx="7585535"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 Synthesized Schematic </a:t>
            </a:r>
            <a:r>
              <a:rPr lang="en-IN" sz="2400" b="1">
                <a:latin typeface="Times New Roman" panose="02020603050405020304" pitchFamily="18" charset="0"/>
                <a:cs typeface="Times New Roman" panose="02020603050405020304" pitchFamily="18" charset="0"/>
              </a:rPr>
              <a:t>Diagram with </a:t>
            </a:r>
            <a:r>
              <a:rPr lang="en-IN" sz="2400" b="1" dirty="0">
                <a:latin typeface="Times New Roman" panose="02020603050405020304" pitchFamily="18" charset="0"/>
                <a:cs typeface="Times New Roman" panose="02020603050405020304" pitchFamily="18" charset="0"/>
              </a:rPr>
              <a:t>APB Interfacing</a:t>
            </a:r>
            <a:endParaRPr lang="en-IN" sz="2400" dirty="0"/>
          </a:p>
        </p:txBody>
      </p:sp>
    </p:spTree>
    <p:extLst>
      <p:ext uri="{BB962C8B-B14F-4D97-AF65-F5344CB8AC3E}">
        <p14:creationId xmlns:p14="http://schemas.microsoft.com/office/powerpoint/2010/main" val="3388473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E41FC-421B-2F9B-1E92-2AE125A1EFF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4F57566-B477-1C3D-7393-B127ECC0622E}"/>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1CA68744-241B-A112-DAFF-1E98D17EF0FD}"/>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3F1BFB81-EE47-5A21-49FC-F8E592D57D2D}"/>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24</a:t>
            </a:fld>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45A0669-507D-5580-35AE-9FC98541E780}"/>
              </a:ext>
            </a:extLst>
          </p:cNvPr>
          <p:cNvSpPr txBox="1"/>
          <p:nvPr/>
        </p:nvSpPr>
        <p:spPr>
          <a:xfrm>
            <a:off x="2555776" y="764704"/>
            <a:ext cx="4572000"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SAMPLE TESTCASES</a:t>
            </a:r>
            <a:endParaRPr lang="en-IN" sz="3200" b="1" dirty="0"/>
          </a:p>
        </p:txBody>
      </p:sp>
      <p:graphicFrame>
        <p:nvGraphicFramePr>
          <p:cNvPr id="11" name="Table 10">
            <a:extLst>
              <a:ext uri="{FF2B5EF4-FFF2-40B4-BE49-F238E27FC236}">
                <a16:creationId xmlns:a16="http://schemas.microsoft.com/office/drawing/2014/main" id="{AF4857C8-1157-9235-3D28-2EC0C80DA1E0}"/>
              </a:ext>
            </a:extLst>
          </p:cNvPr>
          <p:cNvGraphicFramePr>
            <a:graphicFrameLocks noGrp="1"/>
          </p:cNvGraphicFramePr>
          <p:nvPr>
            <p:extLst>
              <p:ext uri="{D42A27DB-BD31-4B8C-83A1-F6EECF244321}">
                <p14:modId xmlns:p14="http://schemas.microsoft.com/office/powerpoint/2010/main" val="2535630776"/>
              </p:ext>
            </p:extLst>
          </p:nvPr>
        </p:nvGraphicFramePr>
        <p:xfrm>
          <a:off x="1403648" y="1772816"/>
          <a:ext cx="6480720" cy="4148208"/>
        </p:xfrm>
        <a:graphic>
          <a:graphicData uri="http://schemas.openxmlformats.org/drawingml/2006/table">
            <a:tbl>
              <a:tblPr firstRow="1" bandRow="1">
                <a:tableStyleId>{073A0DAA-6AF3-43AB-8588-CEC1D06C72B9}</a:tableStyleId>
              </a:tblPr>
              <a:tblGrid>
                <a:gridCol w="1368152">
                  <a:extLst>
                    <a:ext uri="{9D8B030D-6E8A-4147-A177-3AD203B41FA5}">
                      <a16:colId xmlns:a16="http://schemas.microsoft.com/office/drawing/2014/main" val="1086041599"/>
                    </a:ext>
                  </a:extLst>
                </a:gridCol>
                <a:gridCol w="1224136">
                  <a:extLst>
                    <a:ext uri="{9D8B030D-6E8A-4147-A177-3AD203B41FA5}">
                      <a16:colId xmlns:a16="http://schemas.microsoft.com/office/drawing/2014/main" val="864898324"/>
                    </a:ext>
                  </a:extLst>
                </a:gridCol>
                <a:gridCol w="1296144">
                  <a:extLst>
                    <a:ext uri="{9D8B030D-6E8A-4147-A177-3AD203B41FA5}">
                      <a16:colId xmlns:a16="http://schemas.microsoft.com/office/drawing/2014/main" val="4232889906"/>
                    </a:ext>
                  </a:extLst>
                </a:gridCol>
                <a:gridCol w="1296144">
                  <a:extLst>
                    <a:ext uri="{9D8B030D-6E8A-4147-A177-3AD203B41FA5}">
                      <a16:colId xmlns:a16="http://schemas.microsoft.com/office/drawing/2014/main" val="3736372804"/>
                    </a:ext>
                  </a:extLst>
                </a:gridCol>
                <a:gridCol w="1296144">
                  <a:extLst>
                    <a:ext uri="{9D8B030D-6E8A-4147-A177-3AD203B41FA5}">
                      <a16:colId xmlns:a16="http://schemas.microsoft.com/office/drawing/2014/main" val="2183365606"/>
                    </a:ext>
                  </a:extLst>
                </a:gridCol>
              </a:tblGrid>
              <a:tr h="704338">
                <a:tc>
                  <a:txBody>
                    <a:bodyPr/>
                    <a:lstStyle/>
                    <a:p>
                      <a:pPr algn="ctr"/>
                      <a:r>
                        <a:rPr lang="en-US" sz="1600" dirty="0">
                          <a:latin typeface="Times New Roman" panose="02020603050405020304" pitchFamily="18" charset="0"/>
                          <a:cs typeface="Times New Roman" panose="02020603050405020304" pitchFamily="18" charset="0"/>
                        </a:rPr>
                        <a:t>   TESTCASES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   </a:t>
                      </a:r>
                    </a:p>
                    <a:p>
                      <a:pPr algn="ctr"/>
                      <a:r>
                        <a:rPr lang="en-US" sz="1600" dirty="0">
                          <a:latin typeface="Times New Roman" panose="02020603050405020304" pitchFamily="18" charset="0"/>
                          <a:cs typeface="Times New Roman" panose="02020603050405020304" pitchFamily="18" charset="0"/>
                        </a:rPr>
                        <a:t>INPUT A</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  </a:t>
                      </a:r>
                    </a:p>
                    <a:p>
                      <a:pPr algn="ctr"/>
                      <a:r>
                        <a:rPr lang="en-US" sz="1600" dirty="0">
                          <a:latin typeface="Times New Roman" panose="02020603050405020304" pitchFamily="18" charset="0"/>
                          <a:cs typeface="Times New Roman" panose="02020603050405020304" pitchFamily="18" charset="0"/>
                        </a:rPr>
                        <a:t>INPUT B</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  EXPECTED     OUTPUT</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   </a:t>
                      </a:r>
                    </a:p>
                    <a:p>
                      <a:pPr algn="ctr"/>
                      <a:r>
                        <a:rPr lang="en-US" sz="1600" dirty="0">
                          <a:latin typeface="Times New Roman" panose="02020603050405020304" pitchFamily="18" charset="0"/>
                          <a:cs typeface="Times New Roman" panose="02020603050405020304" pitchFamily="18" charset="0"/>
                        </a:rPr>
                        <a:t>RESULT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044726"/>
                  </a:ext>
                </a:extLst>
              </a:tr>
              <a:tr h="625572">
                <a:tc>
                  <a:txBody>
                    <a:bodyPr/>
                    <a:lstStyle/>
                    <a:p>
                      <a:pPr algn="ctr"/>
                      <a:r>
                        <a:rPr lang="en-US"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25</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100(64)</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PASS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1943327"/>
                  </a:ext>
                </a:extLst>
              </a:tr>
              <a:tr h="625572">
                <a:tc>
                  <a:txBody>
                    <a:bodyPr/>
                    <a:lstStyle/>
                    <a:p>
                      <a:pPr algn="ctr"/>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15</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15</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225(E1)</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PASS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0463491"/>
                  </a:ext>
                </a:extLst>
              </a:tr>
              <a:tr h="625572">
                <a:tc>
                  <a:txBody>
                    <a:bodyPr/>
                    <a:lstStyle/>
                    <a:p>
                      <a:pPr algn="ctr"/>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100</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20</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2000(7D0)</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PASS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7321091"/>
                  </a:ext>
                </a:extLst>
              </a:tr>
              <a:tr h="625572">
                <a:tc>
                  <a:txBody>
                    <a:bodyPr/>
                    <a:lstStyle/>
                    <a:p>
                      <a:pPr algn="ctr"/>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65535</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65535</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4294836225</a:t>
                      </a:r>
                    </a:p>
                    <a:p>
                      <a:pPr algn="ctr"/>
                      <a:r>
                        <a:rPr lang="en-US" sz="1600">
                          <a:latin typeface="Times New Roman" panose="02020603050405020304" pitchFamily="18" charset="0"/>
                          <a:cs typeface="Times New Roman" panose="02020603050405020304" pitchFamily="18" charset="0"/>
                        </a:rPr>
                        <a:t>(FFFE 0001)</a:t>
                      </a:r>
                      <a:endParaRPr lang="en-US"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PASS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61804130"/>
                  </a:ext>
                </a:extLst>
              </a:tr>
              <a:tr h="625572">
                <a:tc>
                  <a:txBody>
                    <a:bodyPr/>
                    <a:lstStyle/>
                    <a:p>
                      <a:pPr algn="ctr"/>
                      <a:r>
                        <a:rPr lang="en-US" sz="1600"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1000000000</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2000000000</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XXXXX</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FAIL</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2591437"/>
                  </a:ext>
                </a:extLst>
              </a:tr>
            </a:tbl>
          </a:graphicData>
        </a:graphic>
      </p:graphicFrame>
    </p:spTree>
    <p:extLst>
      <p:ext uri="{BB962C8B-B14F-4D97-AF65-F5344CB8AC3E}">
        <p14:creationId xmlns:p14="http://schemas.microsoft.com/office/powerpoint/2010/main" val="3911071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BC23-EA2F-D4B1-1122-7FC67787DF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257C1F-5DE3-D962-E709-A0AD1CD0AF70}"/>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30D11B99-5D96-7B7F-74DD-72CA7012FC0A}"/>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B07A4B41-E0A2-0A05-76EE-A67FBA98DEBC}"/>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25</a:t>
            </a:fld>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6BA4C46-DD55-759A-3220-F405C3DED299}"/>
              </a:ext>
            </a:extLst>
          </p:cNvPr>
          <p:cNvSpPr txBox="1"/>
          <p:nvPr/>
        </p:nvSpPr>
        <p:spPr>
          <a:xfrm>
            <a:off x="2286000" y="451082"/>
            <a:ext cx="4572000"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8DEBF1C3-1098-8606-768F-7C0749879359}"/>
              </a:ext>
            </a:extLst>
          </p:cNvPr>
          <p:cNvSpPr txBox="1"/>
          <p:nvPr/>
        </p:nvSpPr>
        <p:spPr>
          <a:xfrm>
            <a:off x="652990" y="1196752"/>
            <a:ext cx="8119814" cy="4613058"/>
          </a:xfrm>
          <a:prstGeom prst="rect">
            <a:avLst/>
          </a:prstGeom>
          <a:noFill/>
        </p:spPr>
        <p:txBody>
          <a:bodyPr wrap="square">
            <a:spAutoFit/>
          </a:bodyPr>
          <a:lstStyle/>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APB interfaced Vedic multiplier was successfully designed using Verilog HDL.</a:t>
            </a:r>
          </a:p>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design was simulated and verified using Xilinx </a:t>
            </a:r>
            <a:r>
              <a:rPr lang="en-US" dirty="0" err="1">
                <a:latin typeface="Times New Roman" panose="02020603050405020304" pitchFamily="18" charset="0"/>
                <a:cs typeface="Times New Roman" panose="02020603050405020304" pitchFamily="18" charset="0"/>
              </a:rPr>
              <a:t>Vivado</a:t>
            </a:r>
            <a:r>
              <a:rPr lang="en-US" dirty="0">
                <a:latin typeface="Times New Roman" panose="02020603050405020304" pitchFamily="18" charset="0"/>
                <a:cs typeface="Times New Roman" panose="02020603050405020304" pitchFamily="18" charset="0"/>
              </a:rPr>
              <a:t>.</a:t>
            </a:r>
          </a:p>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multiplier is based on the </a:t>
            </a:r>
            <a:r>
              <a:rPr lang="en-US" dirty="0" err="1">
                <a:latin typeface="Times New Roman" panose="02020603050405020304" pitchFamily="18" charset="0"/>
                <a:cs typeface="Times New Roman" panose="02020603050405020304" pitchFamily="18" charset="0"/>
              </a:rPr>
              <a:t>Urdhva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Tiryakbhyam</a:t>
            </a:r>
            <a:r>
              <a:rPr lang="en-US" dirty="0">
                <a:latin typeface="Times New Roman" panose="02020603050405020304" pitchFamily="18" charset="0"/>
                <a:cs typeface="Times New Roman" panose="02020603050405020304" pitchFamily="18" charset="0"/>
              </a:rPr>
              <a:t> sutra, enabling fast and area-efficient multiplication.</a:t>
            </a:r>
          </a:p>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APB protocol provides a simple and reliable communication interface between the processor and the multiplier.</a:t>
            </a:r>
          </a:p>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complete system was developed and tested in Xilinx </a:t>
            </a:r>
            <a:r>
              <a:rPr lang="en-US" dirty="0" err="1">
                <a:latin typeface="Times New Roman" panose="02020603050405020304" pitchFamily="18" charset="0"/>
                <a:cs typeface="Times New Roman" panose="02020603050405020304" pitchFamily="18" charset="0"/>
              </a:rPr>
              <a:t>Vivado</a:t>
            </a:r>
            <a:r>
              <a:rPr lang="en-US" dirty="0">
                <a:latin typeface="Times New Roman" panose="02020603050405020304" pitchFamily="18" charset="0"/>
                <a:cs typeface="Times New Roman" panose="02020603050405020304" pitchFamily="18" charset="0"/>
              </a:rPr>
              <a:t> environment.</a:t>
            </a:r>
          </a:p>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Simulation results confirm that the design operates correctly as expected.</a:t>
            </a:r>
          </a:p>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architecture achieves improved performance with low hardware complexity.</a:t>
            </a:r>
          </a:p>
          <a:p>
            <a:pPr marL="171450" indent="-1714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design is well-suited for DSP and embedded system applications.</a:t>
            </a:r>
          </a:p>
        </p:txBody>
      </p:sp>
    </p:spTree>
    <p:extLst>
      <p:ext uri="{BB962C8B-B14F-4D97-AF65-F5344CB8AC3E}">
        <p14:creationId xmlns:p14="http://schemas.microsoft.com/office/powerpoint/2010/main" val="693188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D42A-DAAD-C8CE-BE15-C4E5512E9425}"/>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                  FUTURESCOPE</a:t>
            </a:r>
            <a:endParaRPr lang="en-IN" sz="3200" b="1" dirty="0"/>
          </a:p>
        </p:txBody>
      </p:sp>
      <p:sp>
        <p:nvSpPr>
          <p:cNvPr id="3" name="Content Placeholder 2">
            <a:extLst>
              <a:ext uri="{FF2B5EF4-FFF2-40B4-BE49-F238E27FC236}">
                <a16:creationId xmlns:a16="http://schemas.microsoft.com/office/drawing/2014/main" id="{A2A228B7-96EB-2AD1-02CB-99B44E710028}"/>
              </a:ext>
            </a:extLst>
          </p:cNvPr>
          <p:cNvSpPr>
            <a:spLocks noGrp="1"/>
          </p:cNvSpPr>
          <p:nvPr>
            <p:ph idx="1"/>
          </p:nvPr>
        </p:nvSpPr>
        <p:spPr>
          <a:xfrm>
            <a:off x="628650" y="1412776"/>
            <a:ext cx="7886700" cy="4351338"/>
          </a:xfrm>
        </p:spPr>
        <p:txBody>
          <a:bodyPr>
            <a:no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design can be extended to higher bit-width multipliers (32-bit, 64-bit) for advanced applications.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Implementation of the design on real FPGA hardware can be carried out for practical validation.</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Power optimization techniques can be applied to further reduce power consumption.</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architecture can be integrated with high-speed buses like AHB or AXI for improved performance.</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design can be applied to complex DSP applications such as FFT, filtering, and image processing.</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0481468-2CBA-A743-C44D-89BEAC6806B7}"/>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3FBE7109-BB77-CB13-1860-980A4F566695}"/>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6A3B81C0-170C-001C-0835-4C3AB06D87F6}"/>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529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A775E73-CCC6-8251-CACE-9EF205031932}"/>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AD39B98D-3A71-4AF4-B6F6-03A2466B0D34}"/>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8A5462AE-6C9D-293F-EAE4-09A6FC649392}"/>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27</a:t>
            </a:fld>
            <a:endParaRPr lang="en-US"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B957B2DB-D665-F575-84F3-F5344F7715EA}"/>
              </a:ext>
            </a:extLst>
          </p:cNvPr>
          <p:cNvSpPr>
            <a:spLocks noGrp="1"/>
          </p:cNvSpPr>
          <p:nvPr>
            <p:ph type="title"/>
          </p:nvPr>
        </p:nvSpPr>
        <p:spPr>
          <a:xfrm>
            <a:off x="628650" y="476672"/>
            <a:ext cx="7886700" cy="432048"/>
          </a:xfrm>
        </p:spPr>
        <p:txBody>
          <a:bodyPr>
            <a:normAutofit fontScale="90000"/>
          </a:bodyPr>
          <a:lstStyle/>
          <a:p>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A0DB3CAA-F2A7-9965-9BEA-3063B33B3763}"/>
              </a:ext>
            </a:extLst>
          </p:cNvPr>
          <p:cNvSpPr>
            <a:spLocks noChangeArrowheads="1"/>
          </p:cNvSpPr>
          <p:nvPr/>
        </p:nvSpPr>
        <p:spPr bwMode="auto">
          <a:xfrm>
            <a:off x="628650" y="887807"/>
            <a:ext cx="7886701" cy="5616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mj-lt"/>
              <a:buAutoNum type="arabicPeriod"/>
            </a:pPr>
            <a:r>
              <a:rPr lang="en-US" altLang="en-US" sz="1500" dirty="0" err="1">
                <a:latin typeface="Times New Roman" panose="02020603050405020304" pitchFamily="18" charset="0"/>
                <a:cs typeface="Times New Roman" panose="02020603050405020304" pitchFamily="18" charset="0"/>
              </a:rPr>
              <a:t>Madhabhatthula</a:t>
            </a:r>
            <a:r>
              <a:rPr lang="en-US" altLang="en-US" sz="1500" dirty="0">
                <a:latin typeface="Times New Roman" panose="02020603050405020304" pitchFamily="18" charset="0"/>
                <a:cs typeface="Times New Roman" panose="02020603050405020304" pitchFamily="18" charset="0"/>
              </a:rPr>
              <a:t> Prem Kumar, Shiva Nand Singh, 64-bit Vedic multiplier with modified architecture and improved performance using Verilog, International Journal of Advance Research, Ideas and Innovations in Technology,2021. </a:t>
            </a:r>
          </a:p>
          <a:p>
            <a:pPr marL="342900" lvl="0" indent="-342900" eaLnBrk="0" fontAlgn="base" hangingPunct="0">
              <a:spcBef>
                <a:spcPct val="0"/>
              </a:spcBef>
              <a:spcAft>
                <a:spcPct val="0"/>
              </a:spcAft>
              <a:buFont typeface="+mj-lt"/>
              <a:buAutoNum type="arabicPeriod"/>
            </a:pPr>
            <a:r>
              <a:rPr lang="en-US" altLang="en-US" sz="1500" dirty="0">
                <a:latin typeface="Times New Roman" panose="02020603050405020304" pitchFamily="18" charset="0"/>
                <a:cs typeface="Times New Roman" panose="02020603050405020304" pitchFamily="18" charset="0"/>
              </a:rPr>
              <a:t>Akshay </a:t>
            </a:r>
            <a:r>
              <a:rPr lang="en-US" altLang="en-US" sz="1500" dirty="0" err="1">
                <a:latin typeface="Times New Roman" panose="02020603050405020304" pitchFamily="18" charset="0"/>
                <a:cs typeface="Times New Roman" panose="02020603050405020304" pitchFamily="18" charset="0"/>
              </a:rPr>
              <a:t>Savji</a:t>
            </a:r>
            <a:r>
              <a:rPr lang="en-US" altLang="en-US" sz="1500" dirty="0">
                <a:latin typeface="Times New Roman" panose="02020603050405020304" pitchFamily="18" charset="0"/>
                <a:cs typeface="Times New Roman" panose="02020603050405020304" pitchFamily="18" charset="0"/>
              </a:rPr>
              <a:t>, Shruti Oza, Design and Implementation of Vedic Multiplier, International Journal of Recent Technology and Engineering,2020. </a:t>
            </a:r>
          </a:p>
          <a:p>
            <a:pPr marL="342900" lvl="0" indent="-342900" eaLnBrk="0" fontAlgn="base" hangingPunct="0">
              <a:spcBef>
                <a:spcPct val="0"/>
              </a:spcBef>
              <a:spcAft>
                <a:spcPct val="0"/>
              </a:spcAft>
              <a:buFont typeface="+mj-lt"/>
              <a:buAutoNum type="arabicPeriod"/>
            </a:pPr>
            <a:r>
              <a:rPr lang="en-US" altLang="en-US" sz="1500" dirty="0">
                <a:latin typeface="Times New Roman" panose="02020603050405020304" pitchFamily="18" charset="0"/>
                <a:cs typeface="Times New Roman" panose="02020603050405020304" pitchFamily="18" charset="0"/>
              </a:rPr>
              <a:t>Chirag Saxena, Shivansh Prakash, Deepmala Srivastava, APB Protocol of AMBA Technology, International Journal of Creative Research Thoughts,2025. </a:t>
            </a:r>
          </a:p>
          <a:p>
            <a:pPr marL="342900" lvl="0" indent="-342900" eaLnBrk="0" fontAlgn="base" hangingPunct="0">
              <a:spcBef>
                <a:spcPct val="0"/>
              </a:spcBef>
              <a:spcAft>
                <a:spcPct val="0"/>
              </a:spcAft>
              <a:buFont typeface="+mj-lt"/>
              <a:buAutoNum type="arabicPeriod"/>
            </a:pPr>
            <a:r>
              <a:rPr lang="en-US" altLang="en-US" sz="1500" dirty="0">
                <a:latin typeface="Times New Roman" panose="02020603050405020304" pitchFamily="18" charset="0"/>
                <a:cs typeface="Times New Roman" panose="02020603050405020304" pitchFamily="18" charset="0"/>
              </a:rPr>
              <a:t>Dr. B Ravi Kumar, Katte Srisha, Boppana Akhila, Realization of Advanced Peripheral Bus(APB) Protocol using Verilog, International Journal of Scientific Research in Engineering and Mangement,2024. </a:t>
            </a:r>
          </a:p>
          <a:p>
            <a:pPr marL="342900" lvl="0" indent="-342900" eaLnBrk="0" fontAlgn="base" hangingPunct="0">
              <a:spcBef>
                <a:spcPct val="0"/>
              </a:spcBef>
              <a:spcAft>
                <a:spcPct val="0"/>
              </a:spcAft>
              <a:buFont typeface="+mj-lt"/>
              <a:buAutoNum type="arabicPeriod"/>
            </a:pPr>
            <a:r>
              <a:rPr lang="en-US" altLang="en-US" sz="1500" dirty="0">
                <a:latin typeface="Times New Roman" panose="02020603050405020304" pitchFamily="18" charset="0"/>
                <a:cs typeface="Times New Roman" panose="02020603050405020304" pitchFamily="18" charset="0"/>
              </a:rPr>
              <a:t>K. Keshav Sai Chowdary, K. Mourya, S. Ravi Teja, G. Suresh Babu, S. Sridevi Sathya Priya, Design of Efficient 16-bit Vedic Multiplier, 1 3rd International Conference on Signal Processing and Communication,2021. </a:t>
            </a:r>
          </a:p>
          <a:p>
            <a:pPr marL="342900" lvl="0" indent="-342900" eaLnBrk="0" fontAlgn="base" hangingPunct="0">
              <a:spcBef>
                <a:spcPct val="0"/>
              </a:spcBef>
              <a:spcAft>
                <a:spcPct val="0"/>
              </a:spcAft>
              <a:buFont typeface="+mj-lt"/>
              <a:buAutoNum type="arabicPeriod"/>
            </a:pPr>
            <a:r>
              <a:rPr lang="en-US" altLang="en-US" sz="1500" dirty="0">
                <a:latin typeface="Times New Roman" panose="02020603050405020304" pitchFamily="18" charset="0"/>
                <a:cs typeface="Times New Roman" panose="02020603050405020304" pitchFamily="18" charset="0"/>
              </a:rPr>
              <a:t>V Sagar Reddy, Jaini Sachin </a:t>
            </a:r>
            <a:r>
              <a:rPr lang="en-US" altLang="en-US" sz="1500" dirty="0" err="1">
                <a:latin typeface="Times New Roman" panose="02020603050405020304" pitchFamily="18" charset="0"/>
                <a:cs typeface="Times New Roman" panose="02020603050405020304" pitchFamily="18" charset="0"/>
              </a:rPr>
              <a:t>Rewaria</a:t>
            </a:r>
            <a:r>
              <a:rPr lang="en-US" altLang="en-US" sz="1500" dirty="0">
                <a:latin typeface="Times New Roman" panose="02020603050405020304" pitchFamily="18" charset="0"/>
                <a:cs typeface="Times New Roman" panose="02020603050405020304" pitchFamily="18" charset="0"/>
              </a:rPr>
              <a:t>, Ranjith Kumar Thota, Chevella Anil Kumar, Vinay Kumar Chikoti, Design and Verification of APB Protocol, 3rd International Conference on Advancements in Electrical, Electronics, Communication, Computing and Automation,2025. </a:t>
            </a:r>
          </a:p>
          <a:p>
            <a:pPr marL="342900" lvl="0" indent="-342900" eaLnBrk="0" fontAlgn="base" hangingPunct="0">
              <a:spcBef>
                <a:spcPct val="0"/>
              </a:spcBef>
              <a:spcAft>
                <a:spcPct val="0"/>
              </a:spcAft>
              <a:buFont typeface="+mj-lt"/>
              <a:buAutoNum type="arabicPeriod"/>
            </a:pPr>
            <a:r>
              <a:rPr lang="en-US" altLang="en-US" sz="1500" dirty="0">
                <a:latin typeface="Times New Roman" panose="02020603050405020304" pitchFamily="18" charset="0"/>
                <a:cs typeface="Times New Roman" panose="02020603050405020304" pitchFamily="18" charset="0"/>
              </a:rPr>
              <a:t>Padmaprabha Jain, Satheesh Rao, Design and Verification of Advanced Microcontroller Bus Architecture-Advanced Peripheral Bus (AMBA-APB) Protocol, Third International Conference on Intelligent Communication Technologies and Virtual Mobile Networks,2021. </a:t>
            </a:r>
          </a:p>
          <a:p>
            <a:pPr marL="342900" lvl="0" indent="-342900" eaLnBrk="0" fontAlgn="base" hangingPunct="0">
              <a:spcBef>
                <a:spcPct val="0"/>
              </a:spcBef>
              <a:spcAft>
                <a:spcPct val="0"/>
              </a:spcAft>
              <a:buFont typeface="+mj-lt"/>
              <a:buAutoNum type="arabicPeriod"/>
            </a:pPr>
            <a:r>
              <a:rPr lang="en-US" altLang="en-US" sz="1500" dirty="0">
                <a:latin typeface="Times New Roman" panose="02020603050405020304" pitchFamily="18" charset="0"/>
                <a:cs typeface="Times New Roman" panose="02020603050405020304" pitchFamily="18" charset="0"/>
              </a:rPr>
              <a:t>K.G. Venkata Krishna, A. Supriya, R. Akhil, CH. Pavan Kumar, D. </a:t>
            </a:r>
            <a:r>
              <a:rPr lang="en-US" altLang="en-US" sz="1500" dirty="0" err="1">
                <a:latin typeface="Times New Roman" panose="02020603050405020304" pitchFamily="18" charset="0"/>
                <a:cs typeface="Times New Roman" panose="02020603050405020304" pitchFamily="18" charset="0"/>
              </a:rPr>
              <a:t>Karimulla</a:t>
            </a:r>
            <a:r>
              <a:rPr lang="en-US" altLang="en-US" sz="1500" dirty="0">
                <a:latin typeface="Times New Roman" panose="02020603050405020304" pitchFamily="18" charset="0"/>
                <a:cs typeface="Times New Roman" panose="02020603050405020304" pitchFamily="18" charset="0"/>
              </a:rPr>
              <a:t>, Design And Verification of 32-BIT Vedic Multiplier, International Research Journal of Engineering and Technology,2024. </a:t>
            </a:r>
          </a:p>
          <a:p>
            <a:pPr lvl="0" eaLnBrk="0" fontAlgn="base" hangingPunct="0">
              <a:spcBef>
                <a:spcPct val="0"/>
              </a:spcBef>
              <a:spcAft>
                <a:spcPct val="0"/>
              </a:spcAft>
            </a:pPr>
            <a:endParaRPr lang="en-US" altLang="en-US" sz="15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mj-lt"/>
              <a:buAutoNum type="arabicPeriod"/>
            </a:pPr>
            <a:endParaRPr lang="en-US" altLang="en-US" sz="1400" dirty="0">
              <a:latin typeface="Times  new roman"/>
            </a:endParaRPr>
          </a:p>
        </p:txBody>
      </p:sp>
    </p:spTree>
    <p:extLst>
      <p:ext uri="{BB962C8B-B14F-4D97-AF65-F5344CB8AC3E}">
        <p14:creationId xmlns:p14="http://schemas.microsoft.com/office/powerpoint/2010/main" val="351998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353BC-FDCB-AB71-791E-81E186B3F06F}"/>
              </a:ext>
            </a:extLst>
          </p:cNvPr>
          <p:cNvSpPr>
            <a:spLocks noGrp="1"/>
          </p:cNvSpPr>
          <p:nvPr>
            <p:ph type="title"/>
          </p:nvPr>
        </p:nvSpPr>
        <p:spPr>
          <a:xfrm>
            <a:off x="539552" y="627966"/>
            <a:ext cx="7886700" cy="365125"/>
          </a:xfrm>
        </p:spPr>
        <p:txBody>
          <a:bodyPr>
            <a:noAutofit/>
          </a:bodyPr>
          <a:lstStyle/>
          <a:p>
            <a:pPr algn="ctr"/>
            <a:r>
              <a:rPr lang="en-IN" sz="2800" b="1" dirty="0">
                <a:latin typeface="Times New Roman" panose="02020603050405020304" pitchFamily="18" charset="0"/>
                <a:cs typeface="Times New Roman" panose="02020603050405020304" pitchFamily="18" charset="0"/>
              </a:rPr>
              <a:t>PAPER</a:t>
            </a:r>
            <a:r>
              <a:rPr lang="en-IN" sz="32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ACCEPTANCE</a:t>
            </a:r>
            <a:endParaRPr lang="en-IN" sz="32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47813E3-2458-8AB3-00F7-C4F5AD7DD658}"/>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24/04/2026</a:t>
            </a:r>
          </a:p>
        </p:txBody>
      </p:sp>
      <p:sp>
        <p:nvSpPr>
          <p:cNvPr id="5" name="Footer Placeholder 4">
            <a:extLst>
              <a:ext uri="{FF2B5EF4-FFF2-40B4-BE49-F238E27FC236}">
                <a16:creationId xmlns:a16="http://schemas.microsoft.com/office/drawing/2014/main" id="{51DDF8E7-E0BD-67EF-BA47-F4B2809B47B1}"/>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a:extLst>
              <a:ext uri="{FF2B5EF4-FFF2-40B4-BE49-F238E27FC236}">
                <a16:creationId xmlns:a16="http://schemas.microsoft.com/office/drawing/2014/main" id="{95E8FF45-7C97-F1B7-2F45-A6F1916A2A25}"/>
              </a:ext>
            </a:extLst>
          </p:cNvPr>
          <p:cNvSpPr>
            <a:spLocks noGrp="1"/>
          </p:cNvSpPr>
          <p:nvPr>
            <p:ph type="sldNum" sz="quarter" idx="12"/>
          </p:nvPr>
        </p:nvSpPr>
        <p:spPr/>
        <p:txBody>
          <a:bodyPr/>
          <a:lstStyle/>
          <a:p>
            <a:fld id="{B6F15528-21DE-4FAA-801E-634DDDAF4B2B}" type="slidenum">
              <a:rPr lang="en-US" smtClean="0"/>
              <a:pPr/>
              <a:t>28</a:t>
            </a:fld>
            <a:endParaRPr lang="en-US"/>
          </a:p>
        </p:txBody>
      </p:sp>
      <p:pic>
        <p:nvPicPr>
          <p:cNvPr id="9" name="Picture 8">
            <a:extLst>
              <a:ext uri="{FF2B5EF4-FFF2-40B4-BE49-F238E27FC236}">
                <a16:creationId xmlns:a16="http://schemas.microsoft.com/office/drawing/2014/main" id="{6188817A-0EAE-DC2F-B229-2F014D88A40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6625" y="993091"/>
            <a:ext cx="4730750" cy="5236944"/>
          </a:xfrm>
          <a:prstGeom prst="rect">
            <a:avLst/>
          </a:prstGeom>
          <a:noFill/>
          <a:ln>
            <a:noFill/>
          </a:ln>
        </p:spPr>
      </p:pic>
    </p:spTree>
    <p:extLst>
      <p:ext uri="{BB962C8B-B14F-4D97-AF65-F5344CB8AC3E}">
        <p14:creationId xmlns:p14="http://schemas.microsoft.com/office/powerpoint/2010/main" val="982033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latin typeface="Times  new roman"/>
            </a:endParaRPr>
          </a:p>
          <a:p>
            <a:r>
              <a:rPr lang="en-US" dirty="0">
                <a:latin typeface="Times New Roman" panose="02020603050405020304" pitchFamily="18" charset="0"/>
                <a:cs typeface="Times New Roman" panose="02020603050405020304" pitchFamily="18" charset="0"/>
              </a:rPr>
              <a:t>24/04/2026</a:t>
            </a:r>
          </a:p>
          <a:p>
            <a:endParaRPr lang="en-US" dirty="0"/>
          </a:p>
        </p:txBody>
      </p:sp>
      <p:sp>
        <p:nvSpPr>
          <p:cNvPr id="5" name="Footer Placeholder 4"/>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IV ECE-B     BATCH NO.06(VLSI)</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t>29</a:t>
            </a:fld>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9238EAF-399C-A169-E2DF-3CD1D0140558}"/>
              </a:ext>
            </a:extLst>
          </p:cNvPr>
          <p:cNvSpPr txBox="1"/>
          <p:nvPr/>
        </p:nvSpPr>
        <p:spPr>
          <a:xfrm>
            <a:off x="2286000" y="2636912"/>
            <a:ext cx="4572000" cy="830997"/>
          </a:xfrm>
          <a:prstGeom prst="rect">
            <a:avLst/>
          </a:prstGeom>
          <a:noFill/>
        </p:spPr>
        <p:txBody>
          <a:bodyPr wrap="square">
            <a:spAutoFit/>
          </a:bodyPr>
          <a:lstStyle/>
          <a:p>
            <a:pPr algn="ctr"/>
            <a:r>
              <a:rPr lang="en-US" sz="4800" b="1" dirty="0">
                <a:latin typeface="Times New Roman" panose="02020603050405020304" pitchFamily="18" charset="0"/>
                <a:cs typeface="Times New Roman" panose="02020603050405020304" pitchFamily="18" charset="0"/>
              </a:rPr>
              <a:t>THANK</a:t>
            </a:r>
            <a:r>
              <a:rPr lang="en-US" sz="4800" b="1" dirty="0">
                <a:latin typeface="Times  new roman"/>
              </a:rPr>
              <a:t> YOU</a:t>
            </a:r>
            <a:endParaRPr lang="en-IN" sz="4800" b="1" dirty="0">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6336</TotalTime>
  <Words>2439</Words>
  <Application>Microsoft Office PowerPoint</Application>
  <PresentationFormat>On-screen Show (4:3)</PresentationFormat>
  <Paragraphs>408</Paragraphs>
  <Slides>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Algerian</vt:lpstr>
      <vt:lpstr>Arial</vt:lpstr>
      <vt:lpstr>Calibri</vt:lpstr>
      <vt:lpstr>Calibri Light</vt:lpstr>
      <vt:lpstr>Times  new roman</vt:lpstr>
      <vt:lpstr>Times New Roman</vt:lpstr>
      <vt:lpstr>Wingdings</vt:lpstr>
      <vt:lpstr>Office Theme</vt:lpstr>
      <vt:lpstr>PowerPoint Presentation</vt:lpstr>
      <vt:lpstr>PowerPoint Presentation</vt:lpstr>
      <vt:lpstr>PowerPoint Presentation</vt:lpstr>
      <vt:lpstr>PowerPoint Presentation</vt:lpstr>
      <vt:lpstr>INTRODUCTION</vt:lpstr>
      <vt:lpstr>LITERATURE SURVEY</vt:lpstr>
      <vt:lpstr>EXISITING METHODOLOGY</vt:lpstr>
      <vt:lpstr>PROPOSED METHODOLOGY</vt:lpstr>
      <vt:lpstr> MECHANISM OF THE VEDIC                        MULTIPLICATION</vt:lpstr>
      <vt:lpstr>PowerPoint Presentation</vt:lpstr>
      <vt:lpstr>EXAMPLE OF VEDIC MULTIPLICATION</vt:lpstr>
      <vt:lpstr>PowerPoint Presentation</vt:lpstr>
      <vt:lpstr>BLOCK DIAGRAM</vt:lpstr>
      <vt:lpstr>PowerPoint Presentation</vt:lpstr>
      <vt:lpstr>PowerPoint Presentation</vt:lpstr>
      <vt:lpstr>PowerPoint Presentation</vt:lpstr>
      <vt:lpstr>        FUNCTIONAL &amp; NON-FUNCTIONAL         REQUIREMENTS</vt:lpstr>
      <vt:lpstr>PowerPoint Presentation</vt:lpstr>
      <vt:lpstr>PowerPoint Presentation</vt:lpstr>
      <vt:lpstr>RESULTS</vt:lpstr>
      <vt:lpstr>Synthesized Schematic Diagram without Interfacing</vt:lpstr>
      <vt:lpstr>PowerPoint Presentation</vt:lpstr>
      <vt:lpstr>PowerPoint Presentation</vt:lpstr>
      <vt:lpstr>PowerPoint Presentation</vt:lpstr>
      <vt:lpstr>PowerPoint Presentation</vt:lpstr>
      <vt:lpstr>                  FUTURESCOPE</vt:lpstr>
      <vt:lpstr>                          REFERENCES</vt:lpstr>
      <vt:lpstr>PAPER ACCEPTANCE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Satellite Communication</dc:title>
  <dc:creator>Personal</dc:creator>
  <cp:lastModifiedBy>Indira Priya Darshini A</cp:lastModifiedBy>
  <cp:revision>521</cp:revision>
  <dcterms:created xsi:type="dcterms:W3CDTF">2006-08-16T00:00:00Z</dcterms:created>
  <dcterms:modified xsi:type="dcterms:W3CDTF">2026-04-23T06:32:52Z</dcterms:modified>
</cp:coreProperties>
</file>